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9" r:id="rId3"/>
    <p:sldId id="321" r:id="rId4"/>
    <p:sldId id="300" r:id="rId5"/>
    <p:sldId id="319" r:id="rId6"/>
    <p:sldId id="318" r:id="rId7"/>
    <p:sldId id="323" r:id="rId8"/>
    <p:sldId id="324" r:id="rId9"/>
    <p:sldId id="325" r:id="rId10"/>
    <p:sldId id="326" r:id="rId11"/>
    <p:sldId id="327" r:id="rId12"/>
    <p:sldId id="320" r:id="rId13"/>
    <p:sldId id="275" r:id="rId14"/>
  </p:sldIdLst>
  <p:sldSz cx="9144000" cy="5143500" type="screen16x9"/>
  <p:notesSz cx="6858000" cy="9144000"/>
  <p:embeddedFontLst>
    <p:embeddedFont>
      <p:font typeface="Albert Sans" panose="020B0604020202020204" charset="0"/>
      <p:regular r:id="rId16"/>
      <p:bold r:id="rId17"/>
      <p:italic r:id="rId18"/>
      <p:boldItalic r:id="rId19"/>
    </p:embeddedFont>
    <p:embeddedFont>
      <p:font typeface="Albert Sans Medium" panose="020B0604020202020204" charset="0"/>
      <p:regular r:id="rId20"/>
      <p:bold r:id="rId21"/>
      <p:italic r:id="rId22"/>
      <p:boldItalic r:id="rId23"/>
    </p:embeddedFont>
    <p:embeddedFont>
      <p:font typeface="IBM Plex Sans" panose="020B0503050203000203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ABCFF6-4595-47E9-A098-35D09DE5F6B2}">
  <a:tblStyle styleId="{57ABCFF6-4595-47E9-A098-35D09DE5F6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E5D83A-6775-4C6F-815A-D48406D1014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7a9c5578e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7a9c5578e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359DD7D2-473B-CB70-32D3-1ACCF9107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DCC698F7-576A-5FF7-900F-4BF2D306BD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F1DE45A2-BE15-8775-D300-E52BF29F0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8844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0a3ae21fe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0a3ae21fe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6922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D241385B-FC9A-3258-DFF2-292ADE42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CAF8754E-4B30-527A-1EF3-07BC1FA23D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46689F89-DE22-8B73-97FB-F040193A1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000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F9282491-BA44-1D03-D76F-4A8462831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43392A77-DFFA-3896-863F-C7EAD1951A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A20AD428-54B2-1E34-4A3C-465C8E84E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1325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23E0059F-F568-9317-53CE-6C895DE74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F613138C-EDC9-7F00-7BC9-62D0A1A0C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F471E80E-8355-4DC3-5DFB-4BF5974FB7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86002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88BA5C68-05A3-198E-7A73-62F4E62C5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09EDA0FD-EAFC-6E1B-BDA1-CFAE78B9F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D492DAAC-960C-C811-BB7F-6D5F8F4FC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0829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947902DD-D03D-CAAB-8CD7-785A1C01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B85BB07C-1371-30F6-818D-EF8DC8E3D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7BC56C36-21E0-A80B-AF9D-2239230E7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19693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1EB63BEF-46DF-AF19-8CF1-AEAD1318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9C05B63F-FDC2-B07B-A9E1-DE6AA57606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FC8EB6D5-A9C6-2DBC-407B-25A805215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8570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9696590B-AF64-96A0-7FF3-30E73A4B7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6A437E1C-404F-9DB8-1318-702FA97A61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67DB2835-44D7-1117-29AF-6396341F7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153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>
          <a:extLst>
            <a:ext uri="{FF2B5EF4-FFF2-40B4-BE49-F238E27FC236}">
              <a16:creationId xmlns:a16="http://schemas.microsoft.com/office/drawing/2014/main" id="{5EF787C7-6866-E63A-C078-A99910B7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11e7c571f2_0_0:notes">
            <a:extLst>
              <a:ext uri="{FF2B5EF4-FFF2-40B4-BE49-F238E27FC236}">
                <a16:creationId xmlns:a16="http://schemas.microsoft.com/office/drawing/2014/main" id="{2524F111-B0A0-FF88-163D-AF835C9A9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11e7c571f2_0_0:notes">
            <a:extLst>
              <a:ext uri="{FF2B5EF4-FFF2-40B4-BE49-F238E27FC236}">
                <a16:creationId xmlns:a16="http://schemas.microsoft.com/office/drawing/2014/main" id="{F1CAD49D-22CB-FEBC-AAB2-B5B89BE0D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8762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1105afc42a3_1_7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1105afc42a3_1_7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26857" y="87376"/>
            <a:ext cx="8894468" cy="4959674"/>
            <a:chOff x="126858" y="87376"/>
            <a:chExt cx="8894468" cy="4959674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154350" y="96450"/>
              <a:ext cx="8866975" cy="4950600"/>
              <a:chOff x="154350" y="96450"/>
              <a:chExt cx="8866975" cy="49506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154350" y="96450"/>
                <a:ext cx="1389300" cy="4950600"/>
              </a:xfrm>
              <a:prstGeom prst="roundRect">
                <a:avLst>
                  <a:gd name="adj" fmla="val 1353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1510525" y="96450"/>
                <a:ext cx="75108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3" name="Google Shape;13;p2"/>
            <p:cNvSpPr/>
            <p:nvPr/>
          </p:nvSpPr>
          <p:spPr>
            <a:xfrm>
              <a:off x="341800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0053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818450" y="1997475"/>
            <a:ext cx="4610400" cy="17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818500" y="4084425"/>
            <a:ext cx="4610400" cy="452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90053" y="96450"/>
            <a:ext cx="8931397" cy="4950600"/>
            <a:chOff x="90053" y="96450"/>
            <a:chExt cx="8931397" cy="4950600"/>
          </a:xfrm>
        </p:grpSpPr>
        <p:grpSp>
          <p:nvGrpSpPr>
            <p:cNvPr id="19" name="Google Shape;19;p3"/>
            <p:cNvGrpSpPr/>
            <p:nvPr/>
          </p:nvGrpSpPr>
          <p:grpSpPr>
            <a:xfrm>
              <a:off x="154350" y="96450"/>
              <a:ext cx="8867100" cy="4950600"/>
              <a:chOff x="154350" y="96450"/>
              <a:chExt cx="8867100" cy="4950600"/>
            </a:xfrm>
          </p:grpSpPr>
          <p:sp>
            <p:nvSpPr>
              <p:cNvPr id="20" name="Google Shape;20;p3"/>
              <p:cNvSpPr/>
              <p:nvPr/>
            </p:nvSpPr>
            <p:spPr>
              <a:xfrm>
                <a:off x="154350" y="96450"/>
                <a:ext cx="2040300" cy="4950600"/>
              </a:xfrm>
              <a:prstGeom prst="roundRect">
                <a:avLst>
                  <a:gd name="adj" fmla="val 1353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2164950" y="96450"/>
                <a:ext cx="6856500" cy="4950600"/>
              </a:xfrm>
              <a:prstGeom prst="roundRect">
                <a:avLst>
                  <a:gd name="adj" fmla="val 3884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2" name="Google Shape;22;p3"/>
            <p:cNvSpPr/>
            <p:nvPr/>
          </p:nvSpPr>
          <p:spPr>
            <a:xfrm>
              <a:off x="341800" y="4670575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90053" y="4758629"/>
              <a:ext cx="398700" cy="61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4201663" y="2501250"/>
            <a:ext cx="3943500" cy="12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4311488" y="1353750"/>
            <a:ext cx="1476300" cy="815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>
            <a:spLocks noGrp="1"/>
          </p:cNvSpPr>
          <p:nvPr>
            <p:ph type="pic" idx="3"/>
          </p:nvPr>
        </p:nvSpPr>
        <p:spPr>
          <a:xfrm>
            <a:off x="867575" y="1075000"/>
            <a:ext cx="2989200" cy="2988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911799" y="95928"/>
            <a:ext cx="36200" cy="444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l="40" t="-20" r="-40"/>
          <a:stretch/>
        </p:blipFill>
        <p:spPr>
          <a:xfrm rot="5400000">
            <a:off x="7369663" y="-1019837"/>
            <a:ext cx="35250" cy="2675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l="10" r="-10" b="-20"/>
          <a:stretch/>
        </p:blipFill>
        <p:spPr>
          <a:xfrm rot="-5400000" flipH="1">
            <a:off x="6389476" y="2557025"/>
            <a:ext cx="36200" cy="463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7"/>
          <p:cNvGrpSpPr/>
          <p:nvPr/>
        </p:nvGrpSpPr>
        <p:grpSpPr>
          <a:xfrm>
            <a:off x="126902" y="87376"/>
            <a:ext cx="8894423" cy="4959674"/>
            <a:chOff x="126902" y="87376"/>
            <a:chExt cx="8894423" cy="4959674"/>
          </a:xfrm>
        </p:grpSpPr>
        <p:grpSp>
          <p:nvGrpSpPr>
            <p:cNvPr id="69" name="Google Shape;69;p7"/>
            <p:cNvGrpSpPr/>
            <p:nvPr/>
          </p:nvGrpSpPr>
          <p:grpSpPr>
            <a:xfrm flipH="1">
              <a:off x="126902" y="96450"/>
              <a:ext cx="8866924" cy="4950600"/>
              <a:chOff x="154357" y="96450"/>
              <a:chExt cx="8866924" cy="4950600"/>
            </a:xfrm>
          </p:grpSpPr>
          <p:sp>
            <p:nvSpPr>
              <p:cNvPr id="70" name="Google Shape;70;p7"/>
              <p:cNvSpPr/>
              <p:nvPr/>
            </p:nvSpPr>
            <p:spPr>
              <a:xfrm>
                <a:off x="154357" y="96450"/>
                <a:ext cx="3129900" cy="4950600"/>
              </a:xfrm>
              <a:prstGeom prst="roundRect">
                <a:avLst>
                  <a:gd name="adj" fmla="val 630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" name="Google Shape;71;p7"/>
              <p:cNvSpPr/>
              <p:nvPr/>
            </p:nvSpPr>
            <p:spPr>
              <a:xfrm>
                <a:off x="3215681" y="96450"/>
                <a:ext cx="58056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2" name="Google Shape;72;p7"/>
            <p:cNvSpPr/>
            <p:nvPr/>
          </p:nvSpPr>
          <p:spPr>
            <a:xfrm flipH="1">
              <a:off x="8569083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7"/>
            <p:cNvSpPr/>
            <p:nvPr/>
          </p:nvSpPr>
          <p:spPr>
            <a:xfrm rot="-2700000" flipH="1">
              <a:off x="8659321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977675" y="1167425"/>
            <a:ext cx="3474900" cy="11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977675" y="2209075"/>
            <a:ext cx="3474900" cy="17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>
            <a:spLocks noGrp="1"/>
          </p:cNvSpPr>
          <p:nvPr>
            <p:ph type="pic" idx="2"/>
          </p:nvPr>
        </p:nvSpPr>
        <p:spPr>
          <a:xfrm>
            <a:off x="4992625" y="535050"/>
            <a:ext cx="3173700" cy="4073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77" name="Google Shape;77;p7"/>
          <p:cNvGrpSpPr/>
          <p:nvPr/>
        </p:nvGrpSpPr>
        <p:grpSpPr>
          <a:xfrm>
            <a:off x="431162" y="299905"/>
            <a:ext cx="4835838" cy="4524356"/>
            <a:chOff x="431162" y="299905"/>
            <a:chExt cx="4835838" cy="4524356"/>
          </a:xfrm>
        </p:grpSpPr>
        <p:pic>
          <p:nvPicPr>
            <p:cNvPr id="78" name="Google Shape;78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911799" y="95928"/>
              <a:ext cx="36200" cy="4441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7"/>
            <p:cNvPicPr preferRelativeResize="0"/>
            <p:nvPr/>
          </p:nvPicPr>
          <p:blipFill rotWithShape="1">
            <a:blip r:embed="rId3">
              <a:alphaModFix/>
            </a:blip>
            <a:srcRect l="40" t="-20" r="-40"/>
            <a:stretch/>
          </p:blipFill>
          <p:spPr>
            <a:xfrm rot="5400000">
              <a:off x="3911538" y="-1019837"/>
              <a:ext cx="35250" cy="267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878774" y="4297199"/>
              <a:ext cx="79450" cy="9746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1" name="Google Shape;81;p7"/>
          <p:cNvCxnSpPr/>
          <p:nvPr/>
        </p:nvCxnSpPr>
        <p:spPr>
          <a:xfrm>
            <a:off x="433625" y="4645675"/>
            <a:ext cx="225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122775" y="96450"/>
            <a:ext cx="8898300" cy="4950600"/>
          </a:xfrm>
          <a:prstGeom prst="roundRect">
            <a:avLst>
              <a:gd name="adj" fmla="val 350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575288" y="297708"/>
            <a:ext cx="8149845" cy="4594963"/>
            <a:chOff x="575288" y="297708"/>
            <a:chExt cx="8149845" cy="4594963"/>
          </a:xfrm>
        </p:grpSpPr>
        <p:pic>
          <p:nvPicPr>
            <p:cNvPr id="86" name="Google Shape;86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75288" y="2217668"/>
              <a:ext cx="35250" cy="2675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8688932" y="1080227"/>
              <a:ext cx="36200" cy="799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688916" y="297708"/>
              <a:ext cx="36200" cy="44415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9" name="Google Shape;89;p8"/>
          <p:cNvCxnSpPr/>
          <p:nvPr/>
        </p:nvCxnSpPr>
        <p:spPr>
          <a:xfrm rot="10800000">
            <a:off x="430825" y="3397925"/>
            <a:ext cx="0" cy="149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122775" y="96450"/>
            <a:ext cx="8898300" cy="4950600"/>
          </a:xfrm>
          <a:prstGeom prst="roundRect">
            <a:avLst>
              <a:gd name="adj" fmla="val 350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2" name="Google Shape;92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3" name="Google Shape;93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4" name="Google Shape;94;p9"/>
          <p:cNvGrpSpPr/>
          <p:nvPr/>
        </p:nvGrpSpPr>
        <p:grpSpPr>
          <a:xfrm>
            <a:off x="431162" y="299905"/>
            <a:ext cx="8199588" cy="4524356"/>
            <a:chOff x="431162" y="299905"/>
            <a:chExt cx="8199588" cy="4524356"/>
          </a:xfrm>
        </p:grpSpPr>
        <p:pic>
          <p:nvPicPr>
            <p:cNvPr id="95" name="Google Shape;95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5325424" y="95928"/>
              <a:ext cx="36200" cy="4441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9"/>
            <p:cNvPicPr preferRelativeResize="0"/>
            <p:nvPr/>
          </p:nvPicPr>
          <p:blipFill rotWithShape="1">
            <a:blip r:embed="rId3">
              <a:alphaModFix/>
            </a:blip>
            <a:srcRect l="40" t="-20" r="-40"/>
            <a:stretch/>
          </p:blipFill>
          <p:spPr>
            <a:xfrm rot="5400000">
              <a:off x="7275288" y="-1019837"/>
              <a:ext cx="35250" cy="267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878774" y="4297199"/>
              <a:ext cx="79450" cy="9746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8" name="Google Shape;98;p9"/>
          <p:cNvCxnSpPr/>
          <p:nvPr/>
        </p:nvCxnSpPr>
        <p:spPr>
          <a:xfrm>
            <a:off x="433625" y="4645675"/>
            <a:ext cx="225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1"/>
          <p:cNvGrpSpPr/>
          <p:nvPr/>
        </p:nvGrpSpPr>
        <p:grpSpPr>
          <a:xfrm>
            <a:off x="126857" y="87376"/>
            <a:ext cx="8894468" cy="4959674"/>
            <a:chOff x="126858" y="87376"/>
            <a:chExt cx="8894468" cy="4959674"/>
          </a:xfrm>
        </p:grpSpPr>
        <p:grpSp>
          <p:nvGrpSpPr>
            <p:cNvPr id="254" name="Google Shape;254;p21"/>
            <p:cNvGrpSpPr/>
            <p:nvPr/>
          </p:nvGrpSpPr>
          <p:grpSpPr>
            <a:xfrm>
              <a:off x="154350" y="96450"/>
              <a:ext cx="8866975" cy="4950600"/>
              <a:chOff x="154350" y="96450"/>
              <a:chExt cx="8866975" cy="4950600"/>
            </a:xfrm>
          </p:grpSpPr>
          <p:sp>
            <p:nvSpPr>
              <p:cNvPr id="255" name="Google Shape;255;p21"/>
              <p:cNvSpPr/>
              <p:nvPr/>
            </p:nvSpPr>
            <p:spPr>
              <a:xfrm>
                <a:off x="154350" y="96450"/>
                <a:ext cx="1389300" cy="4950600"/>
              </a:xfrm>
              <a:prstGeom prst="roundRect">
                <a:avLst>
                  <a:gd name="adj" fmla="val 13538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6" name="Google Shape;256;p21"/>
              <p:cNvSpPr/>
              <p:nvPr/>
            </p:nvSpPr>
            <p:spPr>
              <a:xfrm>
                <a:off x="1510525" y="96450"/>
                <a:ext cx="75108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57" name="Google Shape;257;p21"/>
            <p:cNvSpPr/>
            <p:nvPr/>
          </p:nvSpPr>
          <p:spPr>
            <a:xfrm>
              <a:off x="341800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21"/>
            <p:cNvSpPr/>
            <p:nvPr/>
          </p:nvSpPr>
          <p:spPr>
            <a:xfrm rot="2700000">
              <a:off x="90053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59" name="Google Shape;259;p21"/>
          <p:cNvSpPr txBox="1">
            <a:spLocks noGrp="1"/>
          </p:cNvSpPr>
          <p:nvPr>
            <p:ph type="ctrTitle"/>
          </p:nvPr>
        </p:nvSpPr>
        <p:spPr>
          <a:xfrm>
            <a:off x="3167100" y="798350"/>
            <a:ext cx="2809800" cy="7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4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1"/>
          </p:nvPr>
        </p:nvSpPr>
        <p:spPr>
          <a:xfrm>
            <a:off x="3167103" y="1628350"/>
            <a:ext cx="2809800" cy="10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3075375" y="3399100"/>
            <a:ext cx="29934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his presentation template was created b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</a:t>
            </a: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including icons by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rPr>
              <a:t>and infographics &amp; images by</a:t>
            </a:r>
            <a:r>
              <a:rPr lang="en" sz="1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10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 dirty="0">
              <a:solidFill>
                <a:schemeClr val="dk1"/>
              </a:solidFill>
              <a:highlight>
                <a:srgbClr val="DFDEFC"/>
              </a:highlight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262" name="Google Shape;262;p21"/>
          <p:cNvGrpSpPr/>
          <p:nvPr/>
        </p:nvGrpSpPr>
        <p:grpSpPr>
          <a:xfrm>
            <a:off x="431157" y="300375"/>
            <a:ext cx="8293968" cy="4592302"/>
            <a:chOff x="431157" y="300375"/>
            <a:chExt cx="8293968" cy="4592302"/>
          </a:xfrm>
        </p:grpSpPr>
        <p:pic>
          <p:nvPicPr>
            <p:cNvPr id="263" name="Google Shape;263;p21"/>
            <p:cNvPicPr preferRelativeResize="0"/>
            <p:nvPr/>
          </p:nvPicPr>
          <p:blipFill rotWithShape="1">
            <a:blip r:embed="rId5">
              <a:alphaModFix/>
            </a:blip>
            <a:srcRect l="-10" t="2696" r="10" b="29044"/>
            <a:stretch/>
          </p:blipFill>
          <p:spPr>
            <a:xfrm>
              <a:off x="8688925" y="300375"/>
              <a:ext cx="36200" cy="4592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 flipH="1">
              <a:off x="431157" y="1070989"/>
              <a:ext cx="36200" cy="799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1613" y="2117018"/>
              <a:ext cx="35250" cy="26750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>
            <a:off x="126902" y="87376"/>
            <a:ext cx="8894423" cy="4959674"/>
            <a:chOff x="126902" y="87376"/>
            <a:chExt cx="8894423" cy="4959674"/>
          </a:xfrm>
        </p:grpSpPr>
        <p:grpSp>
          <p:nvGrpSpPr>
            <p:cNvPr id="268" name="Google Shape;268;p22"/>
            <p:cNvGrpSpPr/>
            <p:nvPr/>
          </p:nvGrpSpPr>
          <p:grpSpPr>
            <a:xfrm flipH="1">
              <a:off x="126902" y="96450"/>
              <a:ext cx="8866914" cy="4950600"/>
              <a:chOff x="154367" y="96450"/>
              <a:chExt cx="8866914" cy="4950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154367" y="96450"/>
                <a:ext cx="3061200" cy="4950600"/>
              </a:xfrm>
              <a:prstGeom prst="roundRect">
                <a:avLst>
                  <a:gd name="adj" fmla="val 630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3215681" y="96450"/>
                <a:ext cx="58056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71" name="Google Shape;271;p22"/>
            <p:cNvSpPr/>
            <p:nvPr/>
          </p:nvSpPr>
          <p:spPr>
            <a:xfrm flipH="1">
              <a:off x="8569083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22"/>
            <p:cNvSpPr/>
            <p:nvPr/>
          </p:nvSpPr>
          <p:spPr>
            <a:xfrm rot="-2700000" flipH="1">
              <a:off x="8659321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73" name="Google Shape;273;p22"/>
          <p:cNvGrpSpPr/>
          <p:nvPr/>
        </p:nvGrpSpPr>
        <p:grpSpPr>
          <a:xfrm flipH="1">
            <a:off x="431157" y="300375"/>
            <a:ext cx="8293968" cy="4592302"/>
            <a:chOff x="431157" y="300375"/>
            <a:chExt cx="8293968" cy="4592302"/>
          </a:xfrm>
        </p:grpSpPr>
        <p:pic>
          <p:nvPicPr>
            <p:cNvPr id="274" name="Google Shape;274;p22"/>
            <p:cNvPicPr preferRelativeResize="0"/>
            <p:nvPr/>
          </p:nvPicPr>
          <p:blipFill rotWithShape="1">
            <a:blip r:embed="rId2">
              <a:alphaModFix/>
            </a:blip>
            <a:srcRect l="-10" t="2696" r="10" b="29044"/>
            <a:stretch/>
          </p:blipFill>
          <p:spPr>
            <a:xfrm>
              <a:off x="8688925" y="300375"/>
              <a:ext cx="36200" cy="4592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431157" y="1070989"/>
              <a:ext cx="36200" cy="799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1613" y="2217668"/>
              <a:ext cx="35250" cy="26750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23"/>
          <p:cNvGrpSpPr/>
          <p:nvPr/>
        </p:nvGrpSpPr>
        <p:grpSpPr>
          <a:xfrm>
            <a:off x="126902" y="87376"/>
            <a:ext cx="8894423" cy="4959674"/>
            <a:chOff x="126902" y="87376"/>
            <a:chExt cx="8894423" cy="4959674"/>
          </a:xfrm>
        </p:grpSpPr>
        <p:grpSp>
          <p:nvGrpSpPr>
            <p:cNvPr id="279" name="Google Shape;279;p23"/>
            <p:cNvGrpSpPr/>
            <p:nvPr/>
          </p:nvGrpSpPr>
          <p:grpSpPr>
            <a:xfrm flipH="1">
              <a:off x="126902" y="96450"/>
              <a:ext cx="8866914" cy="4950600"/>
              <a:chOff x="154367" y="96450"/>
              <a:chExt cx="8866914" cy="4950600"/>
            </a:xfrm>
          </p:grpSpPr>
          <p:sp>
            <p:nvSpPr>
              <p:cNvPr id="280" name="Google Shape;280;p23"/>
              <p:cNvSpPr/>
              <p:nvPr/>
            </p:nvSpPr>
            <p:spPr>
              <a:xfrm>
                <a:off x="154367" y="96450"/>
                <a:ext cx="3061200" cy="4950600"/>
              </a:xfrm>
              <a:prstGeom prst="roundRect">
                <a:avLst>
                  <a:gd name="adj" fmla="val 6303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1" name="Google Shape;281;p23"/>
              <p:cNvSpPr/>
              <p:nvPr/>
            </p:nvSpPr>
            <p:spPr>
              <a:xfrm>
                <a:off x="3215681" y="96450"/>
                <a:ext cx="5805600" cy="4950600"/>
              </a:xfrm>
              <a:prstGeom prst="roundRect">
                <a:avLst>
                  <a:gd name="adj" fmla="val 3507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82" name="Google Shape;282;p23"/>
            <p:cNvSpPr/>
            <p:nvPr/>
          </p:nvSpPr>
          <p:spPr>
            <a:xfrm flipH="1">
              <a:off x="8569083" y="297700"/>
              <a:ext cx="237300" cy="237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23"/>
            <p:cNvSpPr/>
            <p:nvPr/>
          </p:nvSpPr>
          <p:spPr>
            <a:xfrm rot="-2700000" flipH="1">
              <a:off x="8659321" y="219429"/>
              <a:ext cx="398808" cy="6109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84" name="Google Shape;284;p23"/>
          <p:cNvGrpSpPr/>
          <p:nvPr/>
        </p:nvGrpSpPr>
        <p:grpSpPr>
          <a:xfrm>
            <a:off x="431150" y="297693"/>
            <a:ext cx="8293978" cy="4590586"/>
            <a:chOff x="431150" y="297693"/>
            <a:chExt cx="8293978" cy="4590586"/>
          </a:xfrm>
        </p:grpSpPr>
        <p:pic>
          <p:nvPicPr>
            <p:cNvPr id="285" name="Google Shape;285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8656178" y="3366180"/>
              <a:ext cx="68950" cy="1522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31150" y="297693"/>
              <a:ext cx="35250" cy="2675002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87" name="Google Shape;287;p23"/>
          <p:cNvCxnSpPr/>
          <p:nvPr/>
        </p:nvCxnSpPr>
        <p:spPr>
          <a:xfrm rot="10800000">
            <a:off x="8519550" y="2250300"/>
            <a:ext cx="0" cy="2629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BM Plex Sans"/>
              <a:buNone/>
              <a:defRPr sz="30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IBM Plex Sans"/>
              <a:buNone/>
              <a:defRPr sz="35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●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○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 Medium"/>
              <a:buChar char="■"/>
              <a:defRPr sz="12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7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 txBox="1">
            <a:spLocks noGrp="1"/>
          </p:cNvSpPr>
          <p:nvPr>
            <p:ph type="ctrTitle"/>
          </p:nvPr>
        </p:nvSpPr>
        <p:spPr>
          <a:xfrm>
            <a:off x="2344339" y="1320729"/>
            <a:ext cx="4455321" cy="17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Analyst </a:t>
            </a:r>
            <a:br>
              <a:rPr lang="en-US" dirty="0"/>
            </a:br>
            <a:r>
              <a:rPr lang="en-US" dirty="0"/>
              <a:t>Diploma</a:t>
            </a:r>
            <a:endParaRPr dirty="0"/>
          </a:p>
        </p:txBody>
      </p:sp>
      <p:sp>
        <p:nvSpPr>
          <p:cNvPr id="299" name="Google Shape;299;p27"/>
          <p:cNvSpPr txBox="1">
            <a:spLocks noGrp="1"/>
          </p:cNvSpPr>
          <p:nvPr>
            <p:ph type="subTitle" idx="1"/>
          </p:nvPr>
        </p:nvSpPr>
        <p:spPr>
          <a:xfrm>
            <a:off x="626899" y="4405336"/>
            <a:ext cx="3185937" cy="4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Made By : Eng. Mohamed Saad</a:t>
            </a:r>
          </a:p>
        </p:txBody>
      </p:sp>
      <p:pic>
        <p:nvPicPr>
          <p:cNvPr id="300" name="Google Shape;300;p27"/>
          <p:cNvPicPr preferRelativeResize="0"/>
          <p:nvPr/>
        </p:nvPicPr>
        <p:blipFill rotWithShape="1">
          <a:blip r:embed="rId3">
            <a:alphaModFix/>
          </a:blip>
          <a:srcRect l="-10" t="26428" r="10" b="29050"/>
          <a:stretch/>
        </p:blipFill>
        <p:spPr>
          <a:xfrm rot="-5400000">
            <a:off x="4435776" y="1556955"/>
            <a:ext cx="36200" cy="299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 flipH="1">
            <a:off x="7929603" y="-304870"/>
            <a:ext cx="68950" cy="15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47449" y="3917999"/>
            <a:ext cx="79450" cy="97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7369991" y="-1019026"/>
            <a:ext cx="35250" cy="26750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p27"/>
          <p:cNvCxnSpPr/>
          <p:nvPr/>
        </p:nvCxnSpPr>
        <p:spPr>
          <a:xfrm rot="-5400000">
            <a:off x="-671499" y="3785624"/>
            <a:ext cx="2205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305" name="Google Shape;305;p27"/>
          <p:cNvSpPr/>
          <p:nvPr/>
        </p:nvSpPr>
        <p:spPr>
          <a:xfrm>
            <a:off x="341800" y="297700"/>
            <a:ext cx="237300" cy="237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p27"/>
          <p:cNvSpPr/>
          <p:nvPr/>
        </p:nvSpPr>
        <p:spPr>
          <a:xfrm rot="2700000">
            <a:off x="90053" y="219429"/>
            <a:ext cx="398808" cy="6109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Picture 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147FD827-EDD5-D3E0-CD04-94A573FFA0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400" y="4550517"/>
            <a:ext cx="449691" cy="4524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/>
      <p:bldP spid="299" grpId="0" build="p"/>
      <p:bldP spid="305" grpId="0" animBg="1"/>
      <p:bldP spid="30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>
            <a:spLocks noGrp="1"/>
          </p:cNvSpPr>
          <p:nvPr>
            <p:ph type="title"/>
          </p:nvPr>
        </p:nvSpPr>
        <p:spPr>
          <a:xfrm>
            <a:off x="4222044" y="2169150"/>
            <a:ext cx="4492088" cy="1183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lbert Sans Medium" panose="020B0604020202020204" charset="0"/>
              </a:rPr>
              <a:t>Excel </a:t>
            </a:r>
            <a:br>
              <a:rPr lang="en-US" sz="3200" dirty="0">
                <a:latin typeface="Albert Sans Medium" panose="020B0604020202020204" charset="0"/>
              </a:rPr>
            </a:br>
            <a:r>
              <a:rPr lang="en-US" sz="3200" dirty="0">
                <a:latin typeface="Albert Sans Medium" panose="020B0604020202020204" charset="0"/>
              </a:rPr>
              <a:t>for Data Analyst</a:t>
            </a:r>
            <a:endParaRPr sz="3200" dirty="0">
              <a:latin typeface="Albert Sans Medium" panose="020B0604020202020204" charset="0"/>
            </a:endParaRPr>
          </a:p>
        </p:txBody>
      </p:sp>
      <p:sp>
        <p:nvSpPr>
          <p:cNvPr id="338" name="Google Shape;338;p30"/>
          <p:cNvSpPr txBox="1">
            <a:spLocks noGrp="1"/>
          </p:cNvSpPr>
          <p:nvPr>
            <p:ph type="title" idx="2"/>
          </p:nvPr>
        </p:nvSpPr>
        <p:spPr>
          <a:xfrm>
            <a:off x="4311488" y="1353750"/>
            <a:ext cx="4402644" cy="8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Session3</a:t>
            </a:r>
            <a:endParaRPr dirty="0"/>
          </a:p>
        </p:txBody>
      </p:sp>
      <p:pic>
        <p:nvPicPr>
          <p:cNvPr id="3" name="Picture 2" descr="A person standing in front of a computer&#10;&#10;AI-generated content may be incorrect.">
            <a:extLst>
              <a:ext uri="{FF2B5EF4-FFF2-40B4-BE49-F238E27FC236}">
                <a16:creationId xmlns:a16="http://schemas.microsoft.com/office/drawing/2014/main" id="{83C84BF0-6BE9-371A-D9C6-77EC49BDF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02" y="433567"/>
            <a:ext cx="3793067" cy="3793067"/>
          </a:xfrm>
          <a:prstGeom prst="rect">
            <a:avLst/>
          </a:prstGeom>
        </p:spPr>
      </p:pic>
      <p:pic>
        <p:nvPicPr>
          <p:cNvPr id="4" name="Picture 3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581BE854-BAAF-C87A-A1B6-C9B853514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357" y="162211"/>
            <a:ext cx="449691" cy="452400"/>
          </a:xfrm>
          <a:prstGeom prst="rect">
            <a:avLst/>
          </a:prstGeom>
        </p:spPr>
      </p:pic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/>
      <p:bldP spid="3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E9B2529F-6164-DFAD-40BE-1AB51052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6007E65D-CBE1-6566-9D6F-5BAAE6D221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Exercise 1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DFB79-5BB4-D40E-EAA6-76E3468C7EF5}"/>
              </a:ext>
            </a:extLst>
          </p:cNvPr>
          <p:cNvSpPr txBox="1"/>
          <p:nvPr/>
        </p:nvSpPr>
        <p:spPr>
          <a:xfrm>
            <a:off x="752612" y="1083151"/>
            <a:ext cx="627383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latin typeface="Albert Sans Medium" panose="020B0604020202020204" charset="0"/>
              </a:rPr>
              <a:t>Exercise 5 : </a:t>
            </a:r>
            <a:r>
              <a:rPr lang="en-US" sz="1800" dirty="0"/>
              <a:t>Amazon Sales</a:t>
            </a: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E744F7B7-7CB7-5F7E-1840-16F78E2C9903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7ECDF282-22B3-5DEF-7E16-72C5A353B79E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938A13E5-6D6A-BD63-597E-3F3C46E56343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7A71902A-2490-E80F-1A7B-27F61E970D04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113DD970-15F6-40E8-C57F-7A3E6C2C7958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536D15DB-EDBE-AB85-EDC7-C465C05EE09D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D37BCF6C-A79C-A7A2-73C9-59B29455EB5C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1AA02389-1D87-ECDB-1734-AAB6211BE9D2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54C5EFA0-5B60-4226-E2CE-473F836086C8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8977EF16-1923-C43E-1809-CAD91645B78E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C4880DC6-B9E5-8A72-CCC2-8709C28F104B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79CCB454-31F1-A98E-28E9-F2C009C5EFAD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EFEF9-7BCE-82D5-277E-291FD9EEA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867" y="1610111"/>
            <a:ext cx="6853651" cy="2311029"/>
          </a:xfrm>
        </p:spPr>
        <p:txBody>
          <a:bodyPr/>
          <a:lstStyle/>
          <a:p>
            <a:r>
              <a:rPr lang="en-US" dirty="0"/>
              <a:t>You are a </a:t>
            </a:r>
            <a:r>
              <a:rPr lang="en-US" b="1" dirty="0"/>
              <a:t>Junior Data Analyst</a:t>
            </a:r>
            <a:r>
              <a:rPr lang="en-US" dirty="0"/>
              <a:t> in </a:t>
            </a:r>
            <a:r>
              <a:rPr lang="en-US" sz="1400" dirty="0"/>
              <a:t>a</a:t>
            </a:r>
            <a:r>
              <a:rPr lang="en-US" dirty="0"/>
              <a:t> </a:t>
            </a:r>
            <a:r>
              <a:rPr lang="en-US" b="1" dirty="0"/>
              <a:t>Amazon company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139700" indent="0">
              <a:buNone/>
            </a:pPr>
            <a:r>
              <a:rPr lang="en-US" dirty="0"/>
              <a:t>- Load Dataset  (Ex 5) File !</a:t>
            </a:r>
          </a:p>
          <a:p>
            <a:pPr marL="139700" indent="0">
              <a:buNone/>
            </a:pPr>
            <a:r>
              <a:rPr lang="en-US" dirty="0"/>
              <a:t>Management wants a </a:t>
            </a:r>
            <a:r>
              <a:rPr lang="en-US" b="1" dirty="0"/>
              <a:t>simple performance report</a:t>
            </a:r>
            <a:r>
              <a:rPr lang="en-US" dirty="0"/>
              <a:t> to understand:</a:t>
            </a:r>
          </a:p>
          <a:p>
            <a:r>
              <a:rPr lang="en-US" dirty="0"/>
              <a:t>Products his price bigger than 1000</a:t>
            </a:r>
          </a:p>
          <a:p>
            <a:r>
              <a:rPr lang="en-US" dirty="0"/>
              <a:t>Products with rate bigger than 4.0</a:t>
            </a:r>
          </a:p>
          <a:p>
            <a:r>
              <a:rPr lang="en-US" dirty="0"/>
              <a:t>How many Products we have now where his price lower than 100 ?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Please give me Small and simple Report with good conditional Format to represent the above KPIs in Tables or Text format  </a:t>
            </a:r>
            <a:r>
              <a:rPr lang="en-US" b="1" dirty="0"/>
              <a:t>(No Need for Charts) !!!!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79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"/>
          <p:cNvSpPr txBox="1">
            <a:spLocks noGrp="1"/>
          </p:cNvSpPr>
          <p:nvPr>
            <p:ph type="title"/>
          </p:nvPr>
        </p:nvSpPr>
        <p:spPr>
          <a:xfrm>
            <a:off x="4233022" y="2330100"/>
            <a:ext cx="4559575" cy="1350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Building Charts in Excel</a:t>
            </a:r>
          </a:p>
        </p:txBody>
      </p:sp>
      <p:sp>
        <p:nvSpPr>
          <p:cNvPr id="338" name="Google Shape;338;p30"/>
          <p:cNvSpPr txBox="1">
            <a:spLocks noGrp="1"/>
          </p:cNvSpPr>
          <p:nvPr>
            <p:ph type="title" idx="2"/>
          </p:nvPr>
        </p:nvSpPr>
        <p:spPr>
          <a:xfrm>
            <a:off x="5834269" y="1514701"/>
            <a:ext cx="1130575" cy="8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3" name="Picture 2" descr="A person and person standing next to a pie chart">
            <a:extLst>
              <a:ext uri="{FF2B5EF4-FFF2-40B4-BE49-F238E27FC236}">
                <a16:creationId xmlns:a16="http://schemas.microsoft.com/office/drawing/2014/main" id="{1D386D77-9274-AE7B-37FB-27AFF83D7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2" y="327378"/>
            <a:ext cx="4605866" cy="460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1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" grpId="0"/>
      <p:bldP spid="3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0A9F8150-7FA5-2DB2-709D-C59680678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F49D06BB-A52C-87D0-50DA-D439C8482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Charts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59690-A113-43DD-BD29-04C04045B388}"/>
              </a:ext>
            </a:extLst>
          </p:cNvPr>
          <p:cNvSpPr txBox="1"/>
          <p:nvPr/>
        </p:nvSpPr>
        <p:spPr>
          <a:xfrm>
            <a:off x="741425" y="1096441"/>
            <a:ext cx="485009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What is Chart ?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A0394DF7-7B07-D8EC-AF71-90B9041ABEEB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FE5DC248-9F8F-F1AE-F94E-1A15E87D8A15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52ED3ECA-7AFD-2FB0-291F-BF345C0CA4BD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8E467401-3DBA-7042-E222-746C5E65C1A4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9D7CAE0F-B3C6-A6A7-3499-6D99E4989F77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8CD7D036-DAD6-F559-AF42-91C5F63CE073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31D3BF30-0D3F-01AF-79AD-343A1F512017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4B67CDC7-054A-86B1-7A88-7FBD8B82A234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F364E8C2-F8AB-F668-1842-5447D7E5C76F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8F21EBCE-A09F-E830-BC69-3E2E2E00B43D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338E0A0F-AEC9-FDB1-696A-DFE507B7BBE2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1A1CB803-8792-520C-C7AF-E11D456E4FF0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3BCDDB29-FB42-ECC5-A303-B371BC49B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7694" y="1583229"/>
            <a:ext cx="5399949" cy="24638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dirty="0"/>
              <a:t>- A </a:t>
            </a:r>
            <a:r>
              <a:rPr lang="en-US" sz="1800" b="1" dirty="0"/>
              <a:t>Chart</a:t>
            </a:r>
            <a:r>
              <a:rPr lang="en-US" sz="1800" dirty="0"/>
              <a:t> is a </a:t>
            </a:r>
            <a:r>
              <a:rPr lang="en-US" sz="1800" b="1" dirty="0"/>
              <a:t>visual representation of data</a:t>
            </a:r>
            <a:r>
              <a:rPr lang="en-US" sz="1800" dirty="0"/>
              <a:t> that helps users:</a:t>
            </a:r>
          </a:p>
          <a:p>
            <a:r>
              <a:rPr lang="en-US" sz="1800" dirty="0"/>
              <a:t>Understand data faster</a:t>
            </a:r>
          </a:p>
          <a:p>
            <a:r>
              <a:rPr lang="en-US" sz="1800" dirty="0"/>
              <a:t>Compare values easily</a:t>
            </a:r>
          </a:p>
          <a:p>
            <a:r>
              <a:rPr lang="en-US" sz="1800" dirty="0"/>
              <a:t>Identify trends and patterns</a:t>
            </a:r>
          </a:p>
          <a:p>
            <a:r>
              <a:rPr lang="en-US" sz="1800" dirty="0"/>
              <a:t>Support decision-making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/>
          </a:p>
          <a:p>
            <a:pPr marL="285750" indent="-285750" algn="just">
              <a:lnSpc>
                <a:spcPct val="150000"/>
              </a:lnSpc>
            </a:pPr>
            <a:endParaRPr lang="en-US" sz="1800" dirty="0">
              <a:solidFill>
                <a:schemeClr val="dk1"/>
              </a:solidFill>
            </a:endParaRPr>
          </a:p>
        </p:txBody>
      </p:sp>
      <p:pic>
        <p:nvPicPr>
          <p:cNvPr id="4" name="Picture 3" descr="A person standing next to a board with graphs and charts">
            <a:extLst>
              <a:ext uri="{FF2B5EF4-FFF2-40B4-BE49-F238E27FC236}">
                <a16:creationId xmlns:a16="http://schemas.microsoft.com/office/drawing/2014/main" id="{5DC3DDC1-6C1B-2F11-04A6-B4E887552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16" y="724577"/>
            <a:ext cx="3322482" cy="332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5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887BF984-C983-EB97-6552-73D99DA02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F4A5DB5C-A1F4-6286-9430-B78EB8C793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Charts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F780D-9B41-EBAF-49AE-0F8E4C42E3B6}"/>
              </a:ext>
            </a:extLst>
          </p:cNvPr>
          <p:cNvSpPr txBox="1"/>
          <p:nvPr/>
        </p:nvSpPr>
        <p:spPr>
          <a:xfrm>
            <a:off x="741425" y="1096441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Type of Charts : 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098F41A9-E9AC-28DC-BD27-490EBFFEAA6B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153D117D-FD6A-F676-BF78-598B45B3F142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2056D9D4-0BB7-85A0-24D6-B001E0B5ADDE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54CB862A-296B-6E6B-3FF3-718297CC9427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19D78C38-5810-654B-C66D-E213409EE481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54DCBA48-DF14-0D03-2B0E-E54D9F6C1B83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1C379926-2EE7-172C-505F-F514E07C82CF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94731D58-6C45-ECDF-7444-38B96AF2370A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F1AB0E82-C7D9-A884-407B-2E92DD3973E1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E5C95038-9F6D-2E67-87A9-BFD8FB0B62B4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58545AAD-0C8B-EC3A-96AB-14A24AB431AF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4F8129BA-E697-655C-C3AA-3476E48A6AB9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26496CE9-AB27-1C83-14FF-D72BFC58E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266" y="1496255"/>
            <a:ext cx="6536267" cy="1178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b="1" dirty="0"/>
              <a:t>1- 📊 Column or bar Chart </a:t>
            </a:r>
          </a:p>
          <a:p>
            <a:r>
              <a:rPr lang="en-US" sz="1800" b="1" dirty="0"/>
              <a:t>Best for: </a:t>
            </a:r>
            <a:r>
              <a:rPr lang="en-US" sz="1800" dirty="0"/>
              <a:t>Comparing values between categories</a:t>
            </a:r>
          </a:p>
          <a:p>
            <a:r>
              <a:rPr lang="en-US" sz="1800" b="1" dirty="0"/>
              <a:t>Example:</a:t>
            </a:r>
            <a:endParaRPr lang="en-US" sz="1800" dirty="0"/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21B3441E-1813-4F5C-412A-C32550B4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92" y="2492391"/>
            <a:ext cx="4404965" cy="1960667"/>
          </a:xfrm>
          <a:prstGeom prst="rect">
            <a:avLst/>
          </a:prstGeom>
        </p:spPr>
      </p:pic>
      <p:pic>
        <p:nvPicPr>
          <p:cNvPr id="15" name="Picture 14" descr="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BA680206-AA0B-A629-7397-E45F2F154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5231" y="2492392"/>
            <a:ext cx="4029777" cy="196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077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9DF1610F-4C8D-0F5D-3011-EE7ECA83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8A1BCAA4-938C-4505-CEBC-FD5F374E05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Charts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61C69-F182-C086-C3A2-152A07F5B17D}"/>
              </a:ext>
            </a:extLst>
          </p:cNvPr>
          <p:cNvSpPr txBox="1"/>
          <p:nvPr/>
        </p:nvSpPr>
        <p:spPr>
          <a:xfrm>
            <a:off x="741425" y="1096441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Type of Charts : 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8942438A-AB66-53F4-083A-7D97D9BD9511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945A080F-0A62-73CE-7A23-DA719F76B49E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2B8C8732-F942-A16C-4F4F-6338990E4675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E028BDDC-5185-2856-5616-B5146B7A6DC5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810ACB47-E769-9BB2-6403-854778712A6C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28365F61-B124-C728-19CA-B8B60CC12ED5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AC9309FD-2DE0-1AFE-725B-ED79F77787DF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FA7ED926-461C-471B-3892-F61A94EED33F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F70B9D60-2CA9-EF1F-D55F-A0D860CA3697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213A4B93-AC52-7E37-C55C-0134E2F7941D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82C96B65-7738-3E6E-76F4-D532B8FF9ACC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D336190F-72B9-2D54-AF7A-F0785D062E12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E3F2031B-AF0C-CFDB-3725-6FFA7AC4A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266" y="1496255"/>
            <a:ext cx="6536267" cy="1178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b="1" dirty="0"/>
              <a:t>2-  Line Chart </a:t>
            </a:r>
          </a:p>
          <a:p>
            <a:r>
              <a:rPr lang="en-US" sz="1800" b="1" dirty="0"/>
              <a:t>Best for: </a:t>
            </a:r>
            <a:r>
              <a:rPr lang="en-US" sz="1800" dirty="0"/>
              <a:t>Showing trends over time</a:t>
            </a:r>
          </a:p>
          <a:p>
            <a:r>
              <a:rPr lang="en-US" sz="1800" b="1" dirty="0"/>
              <a:t>Example:</a:t>
            </a:r>
            <a:endParaRPr lang="en-US" sz="1800" dirty="0"/>
          </a:p>
        </p:txBody>
      </p:sp>
      <p:pic>
        <p:nvPicPr>
          <p:cNvPr id="4" name="Picture 3" descr="A graph showing the average rainfall&#10;&#10;AI-generated content may be incorrect.">
            <a:extLst>
              <a:ext uri="{FF2B5EF4-FFF2-40B4-BE49-F238E27FC236}">
                <a16:creationId xmlns:a16="http://schemas.microsoft.com/office/drawing/2014/main" id="{51618413-9319-576C-3039-D75143C7C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04" y="2507636"/>
            <a:ext cx="4229806" cy="2493031"/>
          </a:xfrm>
          <a:prstGeom prst="rect">
            <a:avLst/>
          </a:prstGeom>
        </p:spPr>
      </p:pic>
      <p:pic>
        <p:nvPicPr>
          <p:cNvPr id="18" name="Picture 17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C939A0B7-BE25-2A05-6F2F-35FD30622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404533"/>
            <a:ext cx="4392550" cy="2596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BFFD4A77-C9C3-2F2F-BF5D-5D4D045B1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9FE884E7-00BE-7CFA-E0CE-3F45987666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Charts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F74D7-1D0A-D6F5-41AD-9B10F5F81E04}"/>
              </a:ext>
            </a:extLst>
          </p:cNvPr>
          <p:cNvSpPr txBox="1"/>
          <p:nvPr/>
        </p:nvSpPr>
        <p:spPr>
          <a:xfrm>
            <a:off x="741425" y="1096441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Type of Charts : 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442039F8-9CD7-371F-897C-8F95C8C8B416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3B69FA82-7A65-12CD-E07B-FA47C47C0BD2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5DEE59CA-C019-3B0C-D4B4-F157C4301D31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521543C3-C585-C4A3-399D-721EF937A1A6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1EF465E8-6C0B-AEF5-9BD7-16ADF89FE7E8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E2C46D25-68DE-DCC8-2A9B-45A5306C12E9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97A2B5EE-156E-14C4-E3A4-BAD00056E2DB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EA32B910-3C2A-5F2C-7E1D-7B14295A0435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D93913EA-CD1D-3B72-D660-2CBFF227A4CC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89905F40-2C84-507B-F95F-30E9F50F70E5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B2565577-B311-047F-D27A-6A10E0D834E8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11C853F5-02E5-51BA-A16B-491E54EC45A9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835FFD94-6E73-4FC4-CF82-FB47619031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266" y="1496255"/>
            <a:ext cx="6536267" cy="1178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b="1" dirty="0"/>
              <a:t>3-  Pie Chart </a:t>
            </a:r>
          </a:p>
          <a:p>
            <a:r>
              <a:rPr lang="en-US" sz="1800" b="1" dirty="0"/>
              <a:t>Best for: </a:t>
            </a:r>
            <a:r>
              <a:rPr lang="en-US" sz="1800" dirty="0"/>
              <a:t>Showing percentages or contribution</a:t>
            </a:r>
          </a:p>
          <a:p>
            <a:r>
              <a:rPr lang="en-US" sz="1800" b="1" dirty="0"/>
              <a:t>Example:</a:t>
            </a:r>
            <a:endParaRPr lang="en-US" sz="1800" dirty="0"/>
          </a:p>
        </p:txBody>
      </p:sp>
      <p:pic>
        <p:nvPicPr>
          <p:cNvPr id="11" name="Picture 10" descr="A pie chart with numbers and symbols&#10;&#10;AI-generated content may be incorrect.">
            <a:extLst>
              <a:ext uri="{FF2B5EF4-FFF2-40B4-BE49-F238E27FC236}">
                <a16:creationId xmlns:a16="http://schemas.microsoft.com/office/drawing/2014/main" id="{E9C79B0D-ABEE-A815-A664-BC37D8DE9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67" y="2483572"/>
            <a:ext cx="3756833" cy="2139618"/>
          </a:xfrm>
          <a:prstGeom prst="rect">
            <a:avLst/>
          </a:prstGeom>
        </p:spPr>
      </p:pic>
      <p:pic>
        <p:nvPicPr>
          <p:cNvPr id="13" name="Picture 12" descr="A pie chart with text and numbers">
            <a:extLst>
              <a:ext uri="{FF2B5EF4-FFF2-40B4-BE49-F238E27FC236}">
                <a16:creationId xmlns:a16="http://schemas.microsoft.com/office/drawing/2014/main" id="{44C64464-0E0F-7A57-1CC8-D9D24F26D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933" y="2323248"/>
            <a:ext cx="4622801" cy="252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42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54DA9D75-DD6A-DE0C-7BAA-218A046E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B89F7140-98A2-2A70-2BD4-F5C789B5B3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Charts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E5A03-4615-4D65-1468-EB1993A67828}"/>
              </a:ext>
            </a:extLst>
          </p:cNvPr>
          <p:cNvSpPr txBox="1"/>
          <p:nvPr/>
        </p:nvSpPr>
        <p:spPr>
          <a:xfrm>
            <a:off x="741425" y="1096441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Type of Charts : 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A6FFFF31-6300-8B21-68C7-48364F54E14C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4A339E45-37C2-9F6B-A310-4BD4D5648E9E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A5506E0E-552D-AA8C-530B-488CBFD1CB33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4DEF5009-0181-1B17-3745-AB32ECE9545B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29F916C2-4A25-17A8-72AA-6DB841A5EBFB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48831BE3-23FD-BD62-D9C9-CEA04A0D9B2B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8055E665-CE86-2216-E238-134619FE268F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92DCAF7D-AF2F-F62A-AEA3-96963D330093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F49DA5F8-9ED9-5B5F-E6B6-DAC79267AC17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AEC8E483-3DAF-0D27-32AE-236F8D58D1A8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8CF3E5CB-DB6B-38F9-485D-722EDDC0338F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3C6196C2-E1BA-6A3F-58C6-54FB5B6D5363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04389254-E40E-2EDC-72E0-E8EC167F4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266" y="1496255"/>
            <a:ext cx="6536267" cy="1178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b="1" dirty="0"/>
              <a:t>4-  Area</a:t>
            </a:r>
            <a:r>
              <a:rPr lang="en-US" sz="1800" dirty="0"/>
              <a:t> Chart</a:t>
            </a:r>
            <a:endParaRPr lang="en-US" sz="1800" b="1" dirty="0"/>
          </a:p>
          <a:p>
            <a:r>
              <a:rPr lang="en-US" sz="1800" b="1" dirty="0"/>
              <a:t>Best for: </a:t>
            </a:r>
            <a:r>
              <a:rPr lang="en-US" sz="1800" dirty="0"/>
              <a:t>Showing trends + volume over time</a:t>
            </a:r>
          </a:p>
          <a:p>
            <a:r>
              <a:rPr lang="en-US" sz="1800" b="1" dirty="0"/>
              <a:t>Example:</a:t>
            </a:r>
            <a:endParaRPr lang="en-US" sz="1800" dirty="0"/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94738727-2ED0-1CC4-0300-59644CD86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68" y="2445409"/>
            <a:ext cx="3790795" cy="2217744"/>
          </a:xfrm>
          <a:prstGeom prst="rect">
            <a:avLst/>
          </a:prstGeom>
        </p:spPr>
      </p:pic>
      <p:pic>
        <p:nvPicPr>
          <p:cNvPr id="14" name="Picture 13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D476A779-EC5D-814F-B23F-A92363A2A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087" y="2409426"/>
            <a:ext cx="4818645" cy="227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89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2A0D5890-FD3D-4B08-B39D-885FF3C5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D7F8C638-4DEC-C1BD-8B64-6923E79CBE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Charts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09BF2-C993-2718-F3DC-939A5223379F}"/>
              </a:ext>
            </a:extLst>
          </p:cNvPr>
          <p:cNvSpPr txBox="1"/>
          <p:nvPr/>
        </p:nvSpPr>
        <p:spPr>
          <a:xfrm>
            <a:off x="741425" y="1096441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Type of Charts : 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AA270F4A-AF53-9DDC-D43A-2DAAE6B101A3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04296B08-824D-528A-BD6A-DFA370FEEBF0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67309096-A4DB-4D38-503D-8EE1EB3E3E2D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1ADD46FC-9E22-7DE0-865C-167111550777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675D395D-0096-B667-9966-3F314E5D92A0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D477C425-830D-DA6D-9935-B02371FE3C2D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CE75A97D-1582-91A4-ECFE-5E49710182B5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8282464E-CA81-18E1-4F54-EDD9DE076611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56CFA2D7-85B7-25B0-C907-229EB287D65B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0E67C9B1-BA24-ABFD-AF13-E9A831B85477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2D8DF012-DDE0-3A9F-57BC-A07525B4718D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9114D7F2-B1D9-BD91-FC8E-E2ABA08E824B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34F410C2-420A-622D-6B96-19CF5A7FE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266" y="1496255"/>
            <a:ext cx="7194212" cy="1178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b="1" dirty="0"/>
              <a:t>5-  Scatter</a:t>
            </a:r>
            <a:r>
              <a:rPr lang="en-US" sz="1800" dirty="0"/>
              <a:t> Chart</a:t>
            </a:r>
            <a:endParaRPr lang="en-US" sz="1800" b="1" dirty="0"/>
          </a:p>
          <a:p>
            <a:r>
              <a:rPr lang="en-US" sz="1800" b="1" dirty="0"/>
              <a:t>Best for: </a:t>
            </a:r>
            <a:r>
              <a:rPr lang="en-US" sz="1800" dirty="0"/>
              <a:t>Showing relationship between two numeric variables</a:t>
            </a:r>
          </a:p>
          <a:p>
            <a:r>
              <a:rPr lang="en-US" sz="1800" b="1" dirty="0"/>
              <a:t>Example:</a:t>
            </a:r>
            <a:endParaRPr lang="en-US" sz="1800" dirty="0"/>
          </a:p>
        </p:txBody>
      </p:sp>
      <p:pic>
        <p:nvPicPr>
          <p:cNvPr id="11" name="Picture 10" descr="A graph with blue dots&#10;&#10;AI-generated content may be incorrect.">
            <a:extLst>
              <a:ext uri="{FF2B5EF4-FFF2-40B4-BE49-F238E27FC236}">
                <a16:creationId xmlns:a16="http://schemas.microsoft.com/office/drawing/2014/main" id="{CC01B3ED-AD2C-3400-57D8-7BA63F0B1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10" y="2571750"/>
            <a:ext cx="3589867" cy="2024969"/>
          </a:xfrm>
          <a:prstGeom prst="rect">
            <a:avLst/>
          </a:prstGeom>
        </p:spPr>
      </p:pic>
      <p:pic>
        <p:nvPicPr>
          <p:cNvPr id="13" name="Picture 12" descr="A diagram with green squares&#10;&#10;AI-generated content may be incorrect.">
            <a:extLst>
              <a:ext uri="{FF2B5EF4-FFF2-40B4-BE49-F238E27FC236}">
                <a16:creationId xmlns:a16="http://schemas.microsoft.com/office/drawing/2014/main" id="{DA9F18AD-424E-8E79-1EEA-4955A917D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615" y="2436910"/>
            <a:ext cx="4147143" cy="239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5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71283D13-7D1D-3686-489D-CFC30F82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74161746-850F-50A2-0768-A7E90A5C9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Charts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ACF7C-FC22-235F-79CE-F1BA93CEA78F}"/>
              </a:ext>
            </a:extLst>
          </p:cNvPr>
          <p:cNvSpPr txBox="1"/>
          <p:nvPr/>
        </p:nvSpPr>
        <p:spPr>
          <a:xfrm>
            <a:off x="741425" y="1096441"/>
            <a:ext cx="4147143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latin typeface="Albert Sans Medium" panose="020B0604020202020204" charset="0"/>
              </a:rPr>
              <a:t>Type of Charts : </a:t>
            </a:r>
            <a:endParaRPr lang="ar-EG" sz="1800" b="1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F9148210-581C-1C2E-60E2-E56C1DAD2DFB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E56A3D9D-18BD-6B11-D658-B50722859CA1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D88BC835-96F1-B848-0342-31D872A66202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CD00FC61-4C68-6954-35C1-621615BF8578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839B4B27-EEC0-BD8E-700A-E2E7248036D9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1A244FF5-9061-C7D5-914B-BECFA2378598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10393C4D-7D82-CA32-DEF2-072DB746D9EB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6452AD8D-2EF6-5207-434E-143FDBE51E73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237679D0-BB00-AB96-78BA-68C6D14DDFC4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16E9F9D4-F758-8389-4509-F2EB54EE3D4E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E94DDD1B-FD8C-AADD-F0AD-4673034C05D2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E9CAF802-CD8E-7C24-D760-2038E61FF62C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345;p31">
            <a:extLst>
              <a:ext uri="{FF2B5EF4-FFF2-40B4-BE49-F238E27FC236}">
                <a16:creationId xmlns:a16="http://schemas.microsoft.com/office/drawing/2014/main" id="{C6FC9E68-E35E-451B-B89F-8104C80F87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0266" y="1496255"/>
            <a:ext cx="7194212" cy="11787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b="1" dirty="0"/>
              <a:t>6-  </a:t>
            </a:r>
            <a:r>
              <a:rPr lang="en-US" sz="1800" dirty="0"/>
              <a:t>📌 </a:t>
            </a:r>
            <a:r>
              <a:rPr lang="en-US" sz="1800" b="1" dirty="0"/>
              <a:t>Combo</a:t>
            </a:r>
            <a:r>
              <a:rPr lang="en-US" sz="1800" dirty="0"/>
              <a:t> Chart</a:t>
            </a:r>
            <a:endParaRPr lang="en-US" sz="1800" b="1" dirty="0"/>
          </a:p>
          <a:p>
            <a:r>
              <a:rPr lang="en-US" sz="1800" b="1" dirty="0"/>
              <a:t>Best for: </a:t>
            </a:r>
            <a:r>
              <a:rPr lang="en-US" sz="1800" dirty="0"/>
              <a:t>Comparing two different measures</a:t>
            </a:r>
          </a:p>
          <a:p>
            <a:r>
              <a:rPr lang="en-US" sz="1800" b="1" dirty="0"/>
              <a:t>Example:</a:t>
            </a:r>
            <a:endParaRPr lang="en-US" sz="1800" dirty="0"/>
          </a:p>
        </p:txBody>
      </p:sp>
      <p:pic>
        <p:nvPicPr>
          <p:cNvPr id="4" name="Picture 3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12DC24B8-79B5-4126-2EB8-FE6990B7B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84" y="2426359"/>
            <a:ext cx="4745884" cy="2249800"/>
          </a:xfrm>
          <a:prstGeom prst="rect">
            <a:avLst/>
          </a:prstGeom>
        </p:spPr>
      </p:pic>
      <p:pic>
        <p:nvPicPr>
          <p:cNvPr id="14" name="Picture 13" descr="A chart with green and black bars&#10;&#10;AI-generated content may be incorrect.">
            <a:extLst>
              <a:ext uri="{FF2B5EF4-FFF2-40B4-BE49-F238E27FC236}">
                <a16:creationId xmlns:a16="http://schemas.microsoft.com/office/drawing/2014/main" id="{DFB52BBB-F2D8-B66D-174C-615B80579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034" y="2291644"/>
            <a:ext cx="3867609" cy="252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9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>
          <a:extLst>
            <a:ext uri="{FF2B5EF4-FFF2-40B4-BE49-F238E27FC236}">
              <a16:creationId xmlns:a16="http://schemas.microsoft.com/office/drawing/2014/main" id="{5AA23990-3DC7-31EC-6023-A99A70DB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1">
            <a:extLst>
              <a:ext uri="{FF2B5EF4-FFF2-40B4-BE49-F238E27FC236}">
                <a16:creationId xmlns:a16="http://schemas.microsoft.com/office/drawing/2014/main" id="{F145F8F8-9D9C-2BB7-07BE-C8A660360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0042" y="334753"/>
            <a:ext cx="4850091" cy="571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dirty="0">
                <a:latin typeface="Albert Sans Medium" panose="020B0604020202020204" charset="0"/>
              </a:rPr>
              <a:t>Session 3 : Exercise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7AC9F-AD39-5ACB-04F6-C60029C2E2EA}"/>
              </a:ext>
            </a:extLst>
          </p:cNvPr>
          <p:cNvSpPr txBox="1"/>
          <p:nvPr/>
        </p:nvSpPr>
        <p:spPr>
          <a:xfrm>
            <a:off x="752612" y="1083151"/>
            <a:ext cx="627383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dirty="0">
                <a:latin typeface="Albert Sans Medium" panose="020B0604020202020204" charset="0"/>
              </a:rPr>
              <a:t>Exercise 6 : </a:t>
            </a:r>
            <a:r>
              <a:rPr lang="en-US" sz="1800" dirty="0">
                <a:latin typeface="Albert Sans Medium" panose="020B0604020202020204" charset="0"/>
              </a:rPr>
              <a:t>Vehicle Sales Performance Analysis</a:t>
            </a:r>
            <a:endParaRPr lang="ar-EG" sz="1800" dirty="0">
              <a:latin typeface="Albert Sans Medium" panose="020B0604020202020204" charset="0"/>
            </a:endParaRPr>
          </a:p>
        </p:txBody>
      </p:sp>
      <p:grpSp>
        <p:nvGrpSpPr>
          <p:cNvPr id="6" name="Google Shape;6936;p64">
            <a:extLst>
              <a:ext uri="{FF2B5EF4-FFF2-40B4-BE49-F238E27FC236}">
                <a16:creationId xmlns:a16="http://schemas.microsoft.com/office/drawing/2014/main" id="{BC750A2F-525E-F856-77C6-0D214F901141}"/>
              </a:ext>
            </a:extLst>
          </p:cNvPr>
          <p:cNvGrpSpPr/>
          <p:nvPr/>
        </p:nvGrpSpPr>
        <p:grpSpPr>
          <a:xfrm>
            <a:off x="401083" y="1222359"/>
            <a:ext cx="354311" cy="273897"/>
            <a:chOff x="-49764975" y="3551225"/>
            <a:chExt cx="299300" cy="300650"/>
          </a:xfrm>
          <a:solidFill>
            <a:schemeClr val="tx1"/>
          </a:solidFill>
        </p:grpSpPr>
        <p:sp>
          <p:nvSpPr>
            <p:cNvPr id="7" name="Google Shape;6937;p64">
              <a:extLst>
                <a:ext uri="{FF2B5EF4-FFF2-40B4-BE49-F238E27FC236}">
                  <a16:creationId xmlns:a16="http://schemas.microsoft.com/office/drawing/2014/main" id="{D27004FD-F7E8-5C6F-9348-16CFD8870379}"/>
                </a:ext>
              </a:extLst>
            </p:cNvPr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6938;p64">
              <a:extLst>
                <a:ext uri="{FF2B5EF4-FFF2-40B4-BE49-F238E27FC236}">
                  <a16:creationId xmlns:a16="http://schemas.microsoft.com/office/drawing/2014/main" id="{4A3FFAB0-79D7-A85F-7CA9-D21369524B58}"/>
                </a:ext>
              </a:extLst>
            </p:cNvPr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6939;p64">
              <a:extLst>
                <a:ext uri="{FF2B5EF4-FFF2-40B4-BE49-F238E27FC236}">
                  <a16:creationId xmlns:a16="http://schemas.microsoft.com/office/drawing/2014/main" id="{A8F245E7-3BE2-E710-E351-65EF613C0949}"/>
                </a:ext>
              </a:extLst>
            </p:cNvPr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6940;p64">
              <a:extLst>
                <a:ext uri="{FF2B5EF4-FFF2-40B4-BE49-F238E27FC236}">
                  <a16:creationId xmlns:a16="http://schemas.microsoft.com/office/drawing/2014/main" id="{99D0BBAE-0F1F-635D-6D6E-7066CEB12F7F}"/>
                </a:ext>
              </a:extLst>
            </p:cNvPr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6941;p64">
              <a:extLst>
                <a:ext uri="{FF2B5EF4-FFF2-40B4-BE49-F238E27FC236}">
                  <a16:creationId xmlns:a16="http://schemas.microsoft.com/office/drawing/2014/main" id="{24B922CC-4F37-D523-D22C-8AC76CC1C506}"/>
                </a:ext>
              </a:extLst>
            </p:cNvPr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942;p64">
              <a:extLst>
                <a:ext uri="{FF2B5EF4-FFF2-40B4-BE49-F238E27FC236}">
                  <a16:creationId xmlns:a16="http://schemas.microsoft.com/office/drawing/2014/main" id="{90987749-3DEA-6877-AF11-568617B86680}"/>
                </a:ext>
              </a:extLst>
            </p:cNvPr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6943;p64">
              <a:extLst>
                <a:ext uri="{FF2B5EF4-FFF2-40B4-BE49-F238E27FC236}">
                  <a16:creationId xmlns:a16="http://schemas.microsoft.com/office/drawing/2014/main" id="{0B7F11DA-2D1C-732D-408D-9BDF09A80BA5}"/>
                </a:ext>
              </a:extLst>
            </p:cNvPr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6944;p64">
              <a:extLst>
                <a:ext uri="{FF2B5EF4-FFF2-40B4-BE49-F238E27FC236}">
                  <a16:creationId xmlns:a16="http://schemas.microsoft.com/office/drawing/2014/main" id="{3D88FC9D-748B-6B95-2CB3-2A567CC452A3}"/>
                </a:ext>
              </a:extLst>
            </p:cNvPr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6945;p64">
              <a:extLst>
                <a:ext uri="{FF2B5EF4-FFF2-40B4-BE49-F238E27FC236}">
                  <a16:creationId xmlns:a16="http://schemas.microsoft.com/office/drawing/2014/main" id="{5D068133-F98B-F932-CD46-EACFBD1446B9}"/>
                </a:ext>
              </a:extLst>
            </p:cNvPr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6946;p64">
              <a:extLst>
                <a:ext uri="{FF2B5EF4-FFF2-40B4-BE49-F238E27FC236}">
                  <a16:creationId xmlns:a16="http://schemas.microsoft.com/office/drawing/2014/main" id="{FCB534A5-DB12-681F-2607-3C2806BB1B66}"/>
                </a:ext>
              </a:extLst>
            </p:cNvPr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6947;p64">
              <a:extLst>
                <a:ext uri="{FF2B5EF4-FFF2-40B4-BE49-F238E27FC236}">
                  <a16:creationId xmlns:a16="http://schemas.microsoft.com/office/drawing/2014/main" id="{4FC5D295-5F0E-DBCC-A865-89DB6A9747AE}"/>
                </a:ext>
              </a:extLst>
            </p:cNvPr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6A57E-23E3-6AE4-DB28-D6D2D10C5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7867" y="1610111"/>
            <a:ext cx="6853651" cy="2311029"/>
          </a:xfrm>
        </p:spPr>
        <p:txBody>
          <a:bodyPr/>
          <a:lstStyle/>
          <a:p>
            <a:r>
              <a:rPr lang="en-US" dirty="0"/>
              <a:t>You are a </a:t>
            </a:r>
            <a:r>
              <a:rPr lang="en-US" b="1" dirty="0"/>
              <a:t>Junior Data Analyst</a:t>
            </a:r>
            <a:r>
              <a:rPr lang="en-US" dirty="0"/>
              <a:t> in a </a:t>
            </a:r>
            <a:r>
              <a:rPr lang="en-US" dirty="0">
                <a:latin typeface="Albert Sans Medium" panose="020B0604020202020204" charset="0"/>
              </a:rPr>
              <a:t>Vehicle </a:t>
            </a:r>
            <a:r>
              <a:rPr lang="en-US" b="1" dirty="0"/>
              <a:t>company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company sells different Types of </a:t>
            </a:r>
            <a:r>
              <a:rPr lang="en-US" dirty="0">
                <a:latin typeface="Albert Sans Medium" panose="020B0604020202020204" charset="0"/>
              </a:rPr>
              <a:t>Vehicle </a:t>
            </a:r>
            <a:r>
              <a:rPr lang="en-US" dirty="0"/>
              <a:t>across Different </a:t>
            </a:r>
            <a:r>
              <a:rPr lang="en-US" b="1" dirty="0"/>
              <a:t>countries</a:t>
            </a:r>
            <a:r>
              <a:rPr lang="en-US" dirty="0"/>
              <a:t> .</a:t>
            </a:r>
          </a:p>
          <a:p>
            <a:endParaRPr lang="en-US" dirty="0"/>
          </a:p>
          <a:p>
            <a:pPr>
              <a:buFontTx/>
              <a:buChar char="-"/>
            </a:pPr>
            <a:r>
              <a:rPr lang="en-US" dirty="0"/>
              <a:t>Load Dataset  (Ex6) File !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Management wants a </a:t>
            </a:r>
            <a:r>
              <a:rPr lang="en-US" b="1" dirty="0"/>
              <a:t>simple performance report</a:t>
            </a:r>
            <a:r>
              <a:rPr lang="en-US" dirty="0"/>
              <a:t> to understand:</a:t>
            </a:r>
          </a:p>
          <a:p>
            <a:r>
              <a:rPr lang="en-US" dirty="0"/>
              <a:t>What is Total Selling Price</a:t>
            </a:r>
          </a:p>
          <a:p>
            <a:r>
              <a:rPr lang="en-US" dirty="0"/>
              <a:t>Give me Trend for Selling Price !</a:t>
            </a:r>
          </a:p>
          <a:p>
            <a:r>
              <a:rPr lang="en-US" dirty="0"/>
              <a:t>Who are the Best Seller ?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Please give me Small and simple Report with good conditional Format to represent the above KPIs in Tables or Text format  </a:t>
            </a:r>
            <a:r>
              <a:rPr lang="en-US" b="1" dirty="0"/>
              <a:t>(We Need to See some Charts ) !!!!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50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6"/>
          <p:cNvSpPr txBox="1">
            <a:spLocks noGrp="1"/>
          </p:cNvSpPr>
          <p:nvPr>
            <p:ph type="subTitle" idx="1"/>
          </p:nvPr>
        </p:nvSpPr>
        <p:spPr>
          <a:xfrm>
            <a:off x="3037891" y="2043450"/>
            <a:ext cx="2809800" cy="10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latin typeface="Albert Sans"/>
                <a:ea typeface="Albert Sans"/>
                <a:cs typeface="Albert Sans"/>
                <a:sym typeface="Albert Sans"/>
              </a:rPr>
              <a:t>Do you have any questions?</a:t>
            </a:r>
            <a:endParaRPr sz="2400" b="1" dirty="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97" name="Google Shape;597;p46"/>
          <p:cNvSpPr txBox="1">
            <a:spLocks noGrp="1"/>
          </p:cNvSpPr>
          <p:nvPr>
            <p:ph type="ctrTitle"/>
          </p:nvPr>
        </p:nvSpPr>
        <p:spPr>
          <a:xfrm>
            <a:off x="3037891" y="1086928"/>
            <a:ext cx="2809800" cy="7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Thanks</a:t>
            </a:r>
            <a:endParaRPr sz="6000" dirty="0"/>
          </a:p>
        </p:txBody>
      </p:sp>
      <p:cxnSp>
        <p:nvCxnSpPr>
          <p:cNvPr id="614" name="Google Shape;614;p46"/>
          <p:cNvCxnSpPr/>
          <p:nvPr/>
        </p:nvCxnSpPr>
        <p:spPr>
          <a:xfrm rot="10800000">
            <a:off x="8512775" y="3618300"/>
            <a:ext cx="0" cy="127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pina Bifida in Newborns by Slidesgo">
  <a:themeElements>
    <a:clrScheme name="Simple Light">
      <a:dk1>
        <a:srgbClr val="272727"/>
      </a:dk1>
      <a:lt1>
        <a:srgbClr val="E5E0DC"/>
      </a:lt1>
      <a:dk2>
        <a:srgbClr val="29ABE2"/>
      </a:dk2>
      <a:lt2>
        <a:srgbClr val="93278F"/>
      </a:lt2>
      <a:accent1>
        <a:srgbClr val="FF7BA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381</Words>
  <Application>Microsoft Office PowerPoint</Application>
  <PresentationFormat>On-screen Show (16:9)</PresentationFormat>
  <Paragraphs>67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Albert Sans Medium</vt:lpstr>
      <vt:lpstr>Albert Sans</vt:lpstr>
      <vt:lpstr>IBM Plex Sans</vt:lpstr>
      <vt:lpstr>Spina Bifida in Newborns by Slidesgo</vt:lpstr>
      <vt:lpstr>Data Analyst  Diploma</vt:lpstr>
      <vt:lpstr>Excel  for Data Analyst</vt:lpstr>
      <vt:lpstr>Session 3 : Exercise 1</vt:lpstr>
      <vt:lpstr>Building Charts in Excel</vt:lpstr>
      <vt:lpstr>Session 3 : Charts</vt:lpstr>
      <vt:lpstr>Session 3 : Charts</vt:lpstr>
      <vt:lpstr>Session 3 : Charts</vt:lpstr>
      <vt:lpstr>Session 3 : Charts</vt:lpstr>
      <vt:lpstr>Session 3 : Charts</vt:lpstr>
      <vt:lpstr>Session 3 : Charts</vt:lpstr>
      <vt:lpstr>Session 3 : Charts</vt:lpstr>
      <vt:lpstr>Session 3 : Exercise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 Workshop</dc:title>
  <dc:creator>Mohamed Saad</dc:creator>
  <cp:lastModifiedBy>Mohamed Ahmed Ali</cp:lastModifiedBy>
  <cp:revision>33</cp:revision>
  <dcterms:modified xsi:type="dcterms:W3CDTF">2025-12-27T10:14:37Z</dcterms:modified>
</cp:coreProperties>
</file>