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256" r:id="rId2"/>
    <p:sldId id="260" r:id="rId3"/>
    <p:sldId id="312" r:id="rId4"/>
    <p:sldId id="258" r:id="rId5"/>
    <p:sldId id="259" r:id="rId6"/>
    <p:sldId id="298" r:id="rId7"/>
    <p:sldId id="314" r:id="rId8"/>
    <p:sldId id="313" r:id="rId9"/>
    <p:sldId id="315" r:id="rId10"/>
    <p:sldId id="316" r:id="rId11"/>
    <p:sldId id="317" r:id="rId12"/>
    <p:sldId id="300" r:id="rId13"/>
    <p:sldId id="318" r:id="rId14"/>
    <p:sldId id="319" r:id="rId15"/>
    <p:sldId id="320" r:id="rId16"/>
    <p:sldId id="321" r:id="rId17"/>
    <p:sldId id="275" r:id="rId18"/>
  </p:sldIdLst>
  <p:sldSz cx="9144000" cy="5143500" type="screen16x9"/>
  <p:notesSz cx="6858000" cy="9144000"/>
  <p:embeddedFontLst>
    <p:embeddedFont>
      <p:font typeface="Albert Sans" panose="020B0604020202020204" charset="0"/>
      <p:regular r:id="rId20"/>
      <p:bold r:id="rId21"/>
      <p:italic r:id="rId22"/>
      <p:boldItalic r:id="rId23"/>
    </p:embeddedFont>
    <p:embeddedFont>
      <p:font typeface="Albert Sans Medium" panose="020B0604020202020204" charset="0"/>
      <p:regular r:id="rId24"/>
      <p:bold r:id="rId25"/>
      <p:italic r:id="rId26"/>
      <p:boldItalic r:id="rId27"/>
    </p:embeddedFont>
    <p:embeddedFont>
      <p:font typeface="IBM Plex Sans" panose="020B0503050203000203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ABCFF6-4595-47E9-A098-35D09DE5F6B2}">
  <a:tblStyle styleId="{57ABCFF6-4595-47E9-A098-35D09DE5F6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E5D83A-6775-4C6F-815A-D48406D1014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7a9c5578e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7a9c5578e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D4B5018B-5496-1FCE-1AC9-80CCD3889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B5A82A08-18C2-AF94-C1D1-C58CF1BAAD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7E3E4A81-4C5A-D8F9-5C97-B1A17940F5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0679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0f9e629ec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0f9e629ec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0a3ae21fe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0a3ae21fe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4667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C41AD787-8E28-50CD-AA8F-FDAE4EC64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E617F611-9EC6-02AB-E1D0-DE99696703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DBAA9B66-43B9-40C6-E4EC-79782212B8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3045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1283C6FD-FF6C-60A5-4E45-BD7BC7F1C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FA18C49A-4098-9C11-0F1D-B175F457E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3BE248FD-FB5E-92A6-5443-2CEF09A209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2803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49FAC2B2-AE5E-E286-74FE-438205055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407FB4B4-C282-07F1-97D4-5EC0ABBEFD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0B75686E-CAF9-7D4A-F203-23C37F5554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3647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49EA41C2-059C-D524-20EE-6F7F7D996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D6B86598-A08C-DBD7-50A5-1775C456C1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A9173AF9-901D-9864-DB54-1CB49F2820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9110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172005DE-B375-50A3-ADA1-BA270F4A1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D0EC1729-472F-8090-1832-BB43BC664D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2B75EB44-FC19-9325-47FF-C67EB59F0A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421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0a3ae21fe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0a3ae21fe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69223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F9282491-BA44-1D03-D76F-4A8462831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43392A77-DFFA-3896-863F-C7EAD1951A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A20AD428-54B2-1E34-4A3C-465C8E84E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13250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D241385B-FC9A-3258-DFF2-292ADE421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CAF8754E-4B30-527A-1EF3-07BC1FA23D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46689F89-DE22-8B73-97FB-F040193A18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00059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5EF787C7-6866-E63A-C078-A99910B78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2524F111-B0A0-FF88-163D-AF835C9A93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F1CAD49D-22CB-FEBC-AAB2-B5B89BE0DD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87623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359DD7D2-473B-CB70-32D3-1ACCF9107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DCC698F7-576A-5FF7-900F-4BF2D306BD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F1DE45A2-BE15-8775-D300-E52BF29F0A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88444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1105afc42a3_1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1105afc42a3_1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26857" y="87376"/>
            <a:ext cx="8894468" cy="4959674"/>
            <a:chOff x="126858" y="87376"/>
            <a:chExt cx="8894468" cy="4959674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154350" y="96450"/>
              <a:ext cx="8866975" cy="4950600"/>
              <a:chOff x="154350" y="96450"/>
              <a:chExt cx="8866975" cy="4950600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154350" y="96450"/>
                <a:ext cx="1389300" cy="4950600"/>
              </a:xfrm>
              <a:prstGeom prst="roundRect">
                <a:avLst>
                  <a:gd name="adj" fmla="val 13538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1510525" y="96450"/>
                <a:ext cx="7510800" cy="4950600"/>
              </a:xfrm>
              <a:prstGeom prst="roundRect">
                <a:avLst>
                  <a:gd name="adj" fmla="val 3507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13" name="Google Shape;13;p2"/>
            <p:cNvSpPr/>
            <p:nvPr/>
          </p:nvSpPr>
          <p:spPr>
            <a:xfrm>
              <a:off x="341800" y="297700"/>
              <a:ext cx="237300" cy="237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0053" y="219429"/>
              <a:ext cx="398808" cy="61094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818450" y="1997475"/>
            <a:ext cx="4610400" cy="17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818500" y="4084425"/>
            <a:ext cx="4610400" cy="45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90053" y="96450"/>
            <a:ext cx="8931397" cy="4950600"/>
            <a:chOff x="90053" y="96450"/>
            <a:chExt cx="8931397" cy="4950600"/>
          </a:xfrm>
        </p:grpSpPr>
        <p:grpSp>
          <p:nvGrpSpPr>
            <p:cNvPr id="19" name="Google Shape;19;p3"/>
            <p:cNvGrpSpPr/>
            <p:nvPr/>
          </p:nvGrpSpPr>
          <p:grpSpPr>
            <a:xfrm>
              <a:off x="154350" y="96450"/>
              <a:ext cx="8867100" cy="4950600"/>
              <a:chOff x="154350" y="96450"/>
              <a:chExt cx="8867100" cy="4950600"/>
            </a:xfrm>
          </p:grpSpPr>
          <p:sp>
            <p:nvSpPr>
              <p:cNvPr id="20" name="Google Shape;20;p3"/>
              <p:cNvSpPr/>
              <p:nvPr/>
            </p:nvSpPr>
            <p:spPr>
              <a:xfrm>
                <a:off x="154350" y="96450"/>
                <a:ext cx="2040300" cy="4950600"/>
              </a:xfrm>
              <a:prstGeom prst="roundRect">
                <a:avLst>
                  <a:gd name="adj" fmla="val 13538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" name="Google Shape;21;p3"/>
              <p:cNvSpPr/>
              <p:nvPr/>
            </p:nvSpPr>
            <p:spPr>
              <a:xfrm>
                <a:off x="2164950" y="96450"/>
                <a:ext cx="6856500" cy="4950600"/>
              </a:xfrm>
              <a:prstGeom prst="roundRect">
                <a:avLst>
                  <a:gd name="adj" fmla="val 388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2" name="Google Shape;22;p3"/>
            <p:cNvSpPr/>
            <p:nvPr/>
          </p:nvSpPr>
          <p:spPr>
            <a:xfrm>
              <a:off x="341800" y="4670575"/>
              <a:ext cx="237300" cy="237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90053" y="4758629"/>
              <a:ext cx="398700" cy="61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4201663" y="2501250"/>
            <a:ext cx="3943500" cy="12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4311488" y="1353750"/>
            <a:ext cx="1476300" cy="815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>
            <a:spLocks noGrp="1"/>
          </p:cNvSpPr>
          <p:nvPr>
            <p:ph type="pic" idx="3"/>
          </p:nvPr>
        </p:nvSpPr>
        <p:spPr>
          <a:xfrm>
            <a:off x="867575" y="1075000"/>
            <a:ext cx="2989200" cy="2988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911799" y="95928"/>
            <a:ext cx="36200" cy="444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l="40" t="-20" r="-40"/>
          <a:stretch/>
        </p:blipFill>
        <p:spPr>
          <a:xfrm rot="5400000">
            <a:off x="7369663" y="-1019837"/>
            <a:ext cx="35250" cy="267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4">
            <a:alphaModFix/>
          </a:blip>
          <a:srcRect l="10" r="-10" b="-20"/>
          <a:stretch/>
        </p:blipFill>
        <p:spPr>
          <a:xfrm rot="-5400000" flipH="1">
            <a:off x="6389476" y="2557025"/>
            <a:ext cx="36200" cy="463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7"/>
          <p:cNvGrpSpPr/>
          <p:nvPr/>
        </p:nvGrpSpPr>
        <p:grpSpPr>
          <a:xfrm>
            <a:off x="126902" y="87376"/>
            <a:ext cx="8894423" cy="4959674"/>
            <a:chOff x="126902" y="87376"/>
            <a:chExt cx="8894423" cy="4959674"/>
          </a:xfrm>
        </p:grpSpPr>
        <p:grpSp>
          <p:nvGrpSpPr>
            <p:cNvPr id="69" name="Google Shape;69;p7"/>
            <p:cNvGrpSpPr/>
            <p:nvPr/>
          </p:nvGrpSpPr>
          <p:grpSpPr>
            <a:xfrm flipH="1">
              <a:off x="126902" y="96450"/>
              <a:ext cx="8866924" cy="4950600"/>
              <a:chOff x="154357" y="96450"/>
              <a:chExt cx="8866924" cy="4950600"/>
            </a:xfrm>
          </p:grpSpPr>
          <p:sp>
            <p:nvSpPr>
              <p:cNvPr id="70" name="Google Shape;70;p7"/>
              <p:cNvSpPr/>
              <p:nvPr/>
            </p:nvSpPr>
            <p:spPr>
              <a:xfrm>
                <a:off x="154357" y="96450"/>
                <a:ext cx="3129900" cy="4950600"/>
              </a:xfrm>
              <a:prstGeom prst="roundRect">
                <a:avLst>
                  <a:gd name="adj" fmla="val 630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" name="Google Shape;71;p7"/>
              <p:cNvSpPr/>
              <p:nvPr/>
            </p:nvSpPr>
            <p:spPr>
              <a:xfrm>
                <a:off x="3215681" y="96450"/>
                <a:ext cx="5805600" cy="4950600"/>
              </a:xfrm>
              <a:prstGeom prst="roundRect">
                <a:avLst>
                  <a:gd name="adj" fmla="val 3507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72" name="Google Shape;72;p7"/>
            <p:cNvSpPr/>
            <p:nvPr/>
          </p:nvSpPr>
          <p:spPr>
            <a:xfrm flipH="1">
              <a:off x="8569083" y="297700"/>
              <a:ext cx="237300" cy="237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73;p7"/>
            <p:cNvSpPr/>
            <p:nvPr/>
          </p:nvSpPr>
          <p:spPr>
            <a:xfrm rot="-2700000" flipH="1">
              <a:off x="8659321" y="219429"/>
              <a:ext cx="398808" cy="61094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977675" y="1167425"/>
            <a:ext cx="3474900" cy="11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977675" y="2209075"/>
            <a:ext cx="3474900" cy="17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>
            <a:spLocks noGrp="1"/>
          </p:cNvSpPr>
          <p:nvPr>
            <p:ph type="pic" idx="2"/>
          </p:nvPr>
        </p:nvSpPr>
        <p:spPr>
          <a:xfrm>
            <a:off x="4992625" y="535050"/>
            <a:ext cx="3173700" cy="407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77" name="Google Shape;77;p7"/>
          <p:cNvGrpSpPr/>
          <p:nvPr/>
        </p:nvGrpSpPr>
        <p:grpSpPr>
          <a:xfrm>
            <a:off x="431162" y="299905"/>
            <a:ext cx="4835838" cy="4524356"/>
            <a:chOff x="431162" y="299905"/>
            <a:chExt cx="4835838" cy="4524356"/>
          </a:xfrm>
        </p:grpSpPr>
        <p:pic>
          <p:nvPicPr>
            <p:cNvPr id="78" name="Google Shape;78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5400000">
              <a:off x="911799" y="95928"/>
              <a:ext cx="36200" cy="4441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7"/>
            <p:cNvPicPr preferRelativeResize="0"/>
            <p:nvPr/>
          </p:nvPicPr>
          <p:blipFill rotWithShape="1">
            <a:blip r:embed="rId3">
              <a:alphaModFix/>
            </a:blip>
            <a:srcRect l="40" t="-20" r="-40"/>
            <a:stretch/>
          </p:blipFill>
          <p:spPr>
            <a:xfrm rot="5400000">
              <a:off x="3911538" y="-1019837"/>
              <a:ext cx="35250" cy="267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 flipH="1">
              <a:off x="878774" y="4297199"/>
              <a:ext cx="79450" cy="9746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1" name="Google Shape;81;p7"/>
          <p:cNvCxnSpPr/>
          <p:nvPr/>
        </p:nvCxnSpPr>
        <p:spPr>
          <a:xfrm>
            <a:off x="433625" y="4645675"/>
            <a:ext cx="225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/>
          <p:nvPr/>
        </p:nvSpPr>
        <p:spPr>
          <a:xfrm>
            <a:off x="122775" y="96450"/>
            <a:ext cx="8898300" cy="4950600"/>
          </a:xfrm>
          <a:prstGeom prst="roundRect">
            <a:avLst>
              <a:gd name="adj" fmla="val 350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575288" y="297708"/>
            <a:ext cx="8149845" cy="4594963"/>
            <a:chOff x="575288" y="297708"/>
            <a:chExt cx="8149845" cy="4594963"/>
          </a:xfrm>
        </p:grpSpPr>
        <p:pic>
          <p:nvPicPr>
            <p:cNvPr id="86" name="Google Shape;86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75288" y="2217668"/>
              <a:ext cx="35250" cy="2675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8688932" y="1080227"/>
              <a:ext cx="36200" cy="7990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688916" y="297708"/>
              <a:ext cx="36200" cy="444154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9" name="Google Shape;89;p8"/>
          <p:cNvCxnSpPr/>
          <p:nvPr/>
        </p:nvCxnSpPr>
        <p:spPr>
          <a:xfrm rot="10800000">
            <a:off x="430825" y="3397925"/>
            <a:ext cx="0" cy="1498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/>
          <p:nvPr/>
        </p:nvSpPr>
        <p:spPr>
          <a:xfrm>
            <a:off x="122775" y="96450"/>
            <a:ext cx="8898300" cy="4950600"/>
          </a:xfrm>
          <a:prstGeom prst="roundRect">
            <a:avLst>
              <a:gd name="adj" fmla="val 350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3" name="Google Shape;93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94" name="Google Shape;94;p9"/>
          <p:cNvGrpSpPr/>
          <p:nvPr/>
        </p:nvGrpSpPr>
        <p:grpSpPr>
          <a:xfrm>
            <a:off x="431162" y="299905"/>
            <a:ext cx="8199588" cy="4524356"/>
            <a:chOff x="431162" y="299905"/>
            <a:chExt cx="8199588" cy="4524356"/>
          </a:xfrm>
        </p:grpSpPr>
        <p:pic>
          <p:nvPicPr>
            <p:cNvPr id="95" name="Google Shape;95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5400000">
              <a:off x="5325424" y="95928"/>
              <a:ext cx="36200" cy="4441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9"/>
            <p:cNvPicPr preferRelativeResize="0"/>
            <p:nvPr/>
          </p:nvPicPr>
          <p:blipFill rotWithShape="1">
            <a:blip r:embed="rId3">
              <a:alphaModFix/>
            </a:blip>
            <a:srcRect l="40" t="-20" r="-40"/>
            <a:stretch/>
          </p:blipFill>
          <p:spPr>
            <a:xfrm rot="5400000">
              <a:off x="7275288" y="-1019837"/>
              <a:ext cx="35250" cy="267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 flipH="1">
              <a:off x="878774" y="4297199"/>
              <a:ext cx="79450" cy="9746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8" name="Google Shape;98;p9"/>
          <p:cNvCxnSpPr/>
          <p:nvPr/>
        </p:nvCxnSpPr>
        <p:spPr>
          <a:xfrm>
            <a:off x="433625" y="4645675"/>
            <a:ext cx="225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/>
          <p:nvPr/>
        </p:nvSpPr>
        <p:spPr>
          <a:xfrm>
            <a:off x="122775" y="96450"/>
            <a:ext cx="8898300" cy="4950600"/>
          </a:xfrm>
          <a:prstGeom prst="roundRect">
            <a:avLst>
              <a:gd name="adj" fmla="val 350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title" idx="2" hasCustomPrompt="1"/>
          </p:nvPr>
        </p:nvSpPr>
        <p:spPr>
          <a:xfrm>
            <a:off x="1505400" y="1355773"/>
            <a:ext cx="734700" cy="572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3"/>
          <p:cNvSpPr txBox="1">
            <a:spLocks noGrp="1"/>
          </p:cNvSpPr>
          <p:nvPr>
            <p:ph type="title" idx="3" hasCustomPrompt="1"/>
          </p:nvPr>
        </p:nvSpPr>
        <p:spPr>
          <a:xfrm>
            <a:off x="1505400" y="2987802"/>
            <a:ext cx="734700" cy="572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" name="Google Shape;123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75" y="1355773"/>
            <a:ext cx="734700" cy="572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75" y="2987802"/>
            <a:ext cx="734700" cy="572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6" hasCustomPrompt="1"/>
          </p:nvPr>
        </p:nvSpPr>
        <p:spPr>
          <a:xfrm>
            <a:off x="6903950" y="1355773"/>
            <a:ext cx="734700" cy="572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7" hasCustomPrompt="1"/>
          </p:nvPr>
        </p:nvSpPr>
        <p:spPr>
          <a:xfrm>
            <a:off x="6903950" y="2987802"/>
            <a:ext cx="734700" cy="572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1"/>
          </p:nvPr>
        </p:nvSpPr>
        <p:spPr>
          <a:xfrm>
            <a:off x="720000" y="2056575"/>
            <a:ext cx="2305500" cy="6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18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8"/>
          </p:nvPr>
        </p:nvSpPr>
        <p:spPr>
          <a:xfrm>
            <a:off x="3419275" y="2056575"/>
            <a:ext cx="2305500" cy="6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18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9"/>
          </p:nvPr>
        </p:nvSpPr>
        <p:spPr>
          <a:xfrm>
            <a:off x="6118550" y="2056575"/>
            <a:ext cx="2305500" cy="6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18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13"/>
          </p:nvPr>
        </p:nvSpPr>
        <p:spPr>
          <a:xfrm>
            <a:off x="720000" y="3688650"/>
            <a:ext cx="2305500" cy="6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18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14"/>
          </p:nvPr>
        </p:nvSpPr>
        <p:spPr>
          <a:xfrm>
            <a:off x="3419275" y="3688650"/>
            <a:ext cx="2305500" cy="6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18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15"/>
          </p:nvPr>
        </p:nvSpPr>
        <p:spPr>
          <a:xfrm>
            <a:off x="6118550" y="3688650"/>
            <a:ext cx="2305500" cy="6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18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grpSp>
        <p:nvGrpSpPr>
          <p:cNvPr id="133" name="Google Shape;133;p13"/>
          <p:cNvGrpSpPr/>
          <p:nvPr/>
        </p:nvGrpSpPr>
        <p:grpSpPr>
          <a:xfrm>
            <a:off x="431149" y="300376"/>
            <a:ext cx="8293977" cy="4592306"/>
            <a:chOff x="431149" y="300376"/>
            <a:chExt cx="8293977" cy="4592306"/>
          </a:xfrm>
        </p:grpSpPr>
        <p:pic>
          <p:nvPicPr>
            <p:cNvPr id="134" name="Google Shape;134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8689876" y="1588452"/>
              <a:ext cx="35250" cy="19665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1149" y="4448528"/>
              <a:ext cx="36200" cy="4441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3"/>
            <p:cNvPicPr preferRelativeResize="0"/>
            <p:nvPr/>
          </p:nvPicPr>
          <p:blipFill rotWithShape="1">
            <a:blip r:embed="rId4">
              <a:alphaModFix/>
            </a:blip>
            <a:srcRect l="40" t="7295" r="-40"/>
            <a:stretch/>
          </p:blipFill>
          <p:spPr>
            <a:xfrm rot="10800000">
              <a:off x="431626" y="300376"/>
              <a:ext cx="35250" cy="24799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21"/>
          <p:cNvGrpSpPr/>
          <p:nvPr/>
        </p:nvGrpSpPr>
        <p:grpSpPr>
          <a:xfrm>
            <a:off x="126857" y="87376"/>
            <a:ext cx="8894468" cy="4959674"/>
            <a:chOff x="126858" y="87376"/>
            <a:chExt cx="8894468" cy="4959674"/>
          </a:xfrm>
        </p:grpSpPr>
        <p:grpSp>
          <p:nvGrpSpPr>
            <p:cNvPr id="254" name="Google Shape;254;p21"/>
            <p:cNvGrpSpPr/>
            <p:nvPr/>
          </p:nvGrpSpPr>
          <p:grpSpPr>
            <a:xfrm>
              <a:off x="154350" y="96450"/>
              <a:ext cx="8866975" cy="4950600"/>
              <a:chOff x="154350" y="96450"/>
              <a:chExt cx="8866975" cy="4950600"/>
            </a:xfrm>
          </p:grpSpPr>
          <p:sp>
            <p:nvSpPr>
              <p:cNvPr id="255" name="Google Shape;255;p21"/>
              <p:cNvSpPr/>
              <p:nvPr/>
            </p:nvSpPr>
            <p:spPr>
              <a:xfrm>
                <a:off x="154350" y="96450"/>
                <a:ext cx="1389300" cy="4950600"/>
              </a:xfrm>
              <a:prstGeom prst="roundRect">
                <a:avLst>
                  <a:gd name="adj" fmla="val 13538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6" name="Google Shape;256;p21"/>
              <p:cNvSpPr/>
              <p:nvPr/>
            </p:nvSpPr>
            <p:spPr>
              <a:xfrm>
                <a:off x="1510525" y="96450"/>
                <a:ext cx="7510800" cy="4950600"/>
              </a:xfrm>
              <a:prstGeom prst="roundRect">
                <a:avLst>
                  <a:gd name="adj" fmla="val 3507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57" name="Google Shape;257;p21"/>
            <p:cNvSpPr/>
            <p:nvPr/>
          </p:nvSpPr>
          <p:spPr>
            <a:xfrm>
              <a:off x="341800" y="297700"/>
              <a:ext cx="237300" cy="237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" name="Google Shape;258;p21"/>
            <p:cNvSpPr/>
            <p:nvPr/>
          </p:nvSpPr>
          <p:spPr>
            <a:xfrm rot="2700000">
              <a:off x="90053" y="219429"/>
              <a:ext cx="398808" cy="61094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59" name="Google Shape;259;p21"/>
          <p:cNvSpPr txBox="1">
            <a:spLocks noGrp="1"/>
          </p:cNvSpPr>
          <p:nvPr>
            <p:ph type="ctrTitle"/>
          </p:nvPr>
        </p:nvSpPr>
        <p:spPr>
          <a:xfrm>
            <a:off x="3167100" y="798350"/>
            <a:ext cx="2809800" cy="7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60" name="Google Shape;260;p21"/>
          <p:cNvSpPr txBox="1">
            <a:spLocks noGrp="1"/>
          </p:cNvSpPr>
          <p:nvPr>
            <p:ph type="subTitle" idx="1"/>
          </p:nvPr>
        </p:nvSpPr>
        <p:spPr>
          <a:xfrm>
            <a:off x="3167103" y="1628350"/>
            <a:ext cx="2809800" cy="10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3075375" y="3399100"/>
            <a:ext cx="29934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</a:t>
            </a:r>
            <a:r>
              <a:rPr lang="en" sz="10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his presentation template was created b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y 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</a:t>
            </a: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10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including icons by 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10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and infographics &amp; images by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 dirty="0">
              <a:solidFill>
                <a:schemeClr val="dk1"/>
              </a:solidFill>
              <a:highlight>
                <a:srgbClr val="DFDEFC"/>
              </a:highlight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262" name="Google Shape;262;p21"/>
          <p:cNvGrpSpPr/>
          <p:nvPr/>
        </p:nvGrpSpPr>
        <p:grpSpPr>
          <a:xfrm>
            <a:off x="431157" y="300375"/>
            <a:ext cx="8293968" cy="4592302"/>
            <a:chOff x="431157" y="300375"/>
            <a:chExt cx="8293968" cy="4592302"/>
          </a:xfrm>
        </p:grpSpPr>
        <p:pic>
          <p:nvPicPr>
            <p:cNvPr id="263" name="Google Shape;263;p21"/>
            <p:cNvPicPr preferRelativeResize="0"/>
            <p:nvPr/>
          </p:nvPicPr>
          <p:blipFill rotWithShape="1">
            <a:blip r:embed="rId5">
              <a:alphaModFix/>
            </a:blip>
            <a:srcRect l="-10" t="2696" r="10" b="29044"/>
            <a:stretch/>
          </p:blipFill>
          <p:spPr>
            <a:xfrm>
              <a:off x="8688925" y="300375"/>
              <a:ext cx="36200" cy="4592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 flipH="1">
              <a:off x="431157" y="1070989"/>
              <a:ext cx="36200" cy="7990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2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31613" y="2117018"/>
              <a:ext cx="35250" cy="26750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>
            <a:off x="126902" y="87376"/>
            <a:ext cx="8894423" cy="4959674"/>
            <a:chOff x="126902" y="87376"/>
            <a:chExt cx="8894423" cy="4959674"/>
          </a:xfrm>
        </p:grpSpPr>
        <p:grpSp>
          <p:nvGrpSpPr>
            <p:cNvPr id="268" name="Google Shape;268;p22"/>
            <p:cNvGrpSpPr/>
            <p:nvPr/>
          </p:nvGrpSpPr>
          <p:grpSpPr>
            <a:xfrm flipH="1">
              <a:off x="126902" y="96450"/>
              <a:ext cx="8866914" cy="4950600"/>
              <a:chOff x="154367" y="96450"/>
              <a:chExt cx="8866914" cy="4950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154367" y="96450"/>
                <a:ext cx="3061200" cy="4950600"/>
              </a:xfrm>
              <a:prstGeom prst="roundRect">
                <a:avLst>
                  <a:gd name="adj" fmla="val 630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3215681" y="96450"/>
                <a:ext cx="5805600" cy="4950600"/>
              </a:xfrm>
              <a:prstGeom prst="roundRect">
                <a:avLst>
                  <a:gd name="adj" fmla="val 3507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71" name="Google Shape;271;p22"/>
            <p:cNvSpPr/>
            <p:nvPr/>
          </p:nvSpPr>
          <p:spPr>
            <a:xfrm flipH="1">
              <a:off x="8569083" y="297700"/>
              <a:ext cx="237300" cy="237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" name="Google Shape;272;p22"/>
            <p:cNvSpPr/>
            <p:nvPr/>
          </p:nvSpPr>
          <p:spPr>
            <a:xfrm rot="-2700000" flipH="1">
              <a:off x="8659321" y="219429"/>
              <a:ext cx="398808" cy="61094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73" name="Google Shape;273;p22"/>
          <p:cNvGrpSpPr/>
          <p:nvPr/>
        </p:nvGrpSpPr>
        <p:grpSpPr>
          <a:xfrm flipH="1">
            <a:off x="431157" y="300375"/>
            <a:ext cx="8293968" cy="4592302"/>
            <a:chOff x="431157" y="300375"/>
            <a:chExt cx="8293968" cy="4592302"/>
          </a:xfrm>
        </p:grpSpPr>
        <p:pic>
          <p:nvPicPr>
            <p:cNvPr id="274" name="Google Shape;274;p22"/>
            <p:cNvPicPr preferRelativeResize="0"/>
            <p:nvPr/>
          </p:nvPicPr>
          <p:blipFill rotWithShape="1">
            <a:blip r:embed="rId2">
              <a:alphaModFix/>
            </a:blip>
            <a:srcRect l="-10" t="2696" r="10" b="29044"/>
            <a:stretch/>
          </p:blipFill>
          <p:spPr>
            <a:xfrm>
              <a:off x="8688925" y="300375"/>
              <a:ext cx="36200" cy="4592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431157" y="1070989"/>
              <a:ext cx="36200" cy="7990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1613" y="2217668"/>
              <a:ext cx="35250" cy="26750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23"/>
          <p:cNvGrpSpPr/>
          <p:nvPr/>
        </p:nvGrpSpPr>
        <p:grpSpPr>
          <a:xfrm>
            <a:off x="126902" y="87376"/>
            <a:ext cx="8894423" cy="4959674"/>
            <a:chOff x="126902" y="87376"/>
            <a:chExt cx="8894423" cy="4959674"/>
          </a:xfrm>
        </p:grpSpPr>
        <p:grpSp>
          <p:nvGrpSpPr>
            <p:cNvPr id="279" name="Google Shape;279;p23"/>
            <p:cNvGrpSpPr/>
            <p:nvPr/>
          </p:nvGrpSpPr>
          <p:grpSpPr>
            <a:xfrm flipH="1">
              <a:off x="126902" y="96450"/>
              <a:ext cx="8866914" cy="4950600"/>
              <a:chOff x="154367" y="96450"/>
              <a:chExt cx="8866914" cy="4950600"/>
            </a:xfrm>
          </p:grpSpPr>
          <p:sp>
            <p:nvSpPr>
              <p:cNvPr id="280" name="Google Shape;280;p23"/>
              <p:cNvSpPr/>
              <p:nvPr/>
            </p:nvSpPr>
            <p:spPr>
              <a:xfrm>
                <a:off x="154367" y="96450"/>
                <a:ext cx="3061200" cy="4950600"/>
              </a:xfrm>
              <a:prstGeom prst="roundRect">
                <a:avLst>
                  <a:gd name="adj" fmla="val 630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1" name="Google Shape;281;p23"/>
              <p:cNvSpPr/>
              <p:nvPr/>
            </p:nvSpPr>
            <p:spPr>
              <a:xfrm>
                <a:off x="3215681" y="96450"/>
                <a:ext cx="5805600" cy="4950600"/>
              </a:xfrm>
              <a:prstGeom prst="roundRect">
                <a:avLst>
                  <a:gd name="adj" fmla="val 3507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82" name="Google Shape;282;p23"/>
            <p:cNvSpPr/>
            <p:nvPr/>
          </p:nvSpPr>
          <p:spPr>
            <a:xfrm flipH="1">
              <a:off x="8569083" y="297700"/>
              <a:ext cx="237300" cy="237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3" name="Google Shape;283;p23"/>
            <p:cNvSpPr/>
            <p:nvPr/>
          </p:nvSpPr>
          <p:spPr>
            <a:xfrm rot="-2700000" flipH="1">
              <a:off x="8659321" y="219429"/>
              <a:ext cx="398808" cy="61094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84" name="Google Shape;284;p23"/>
          <p:cNvGrpSpPr/>
          <p:nvPr/>
        </p:nvGrpSpPr>
        <p:grpSpPr>
          <a:xfrm>
            <a:off x="431150" y="297693"/>
            <a:ext cx="8293978" cy="4590586"/>
            <a:chOff x="431150" y="297693"/>
            <a:chExt cx="8293978" cy="4590586"/>
          </a:xfrm>
        </p:grpSpPr>
        <p:pic>
          <p:nvPicPr>
            <p:cNvPr id="285" name="Google Shape;285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8656178" y="3366180"/>
              <a:ext cx="68950" cy="152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31150" y="297693"/>
              <a:ext cx="35250" cy="267500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87" name="Google Shape;287;p23"/>
          <p:cNvCxnSpPr/>
          <p:nvPr/>
        </p:nvCxnSpPr>
        <p:spPr>
          <a:xfrm rot="10800000">
            <a:off x="8519550" y="2250300"/>
            <a:ext cx="0" cy="262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Sans"/>
              <a:buNone/>
              <a:defRPr sz="3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BM Plex Sans"/>
              <a:buNone/>
              <a:defRPr sz="35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BM Plex Sans"/>
              <a:buNone/>
              <a:defRPr sz="35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BM Plex Sans"/>
              <a:buNone/>
              <a:defRPr sz="35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BM Plex Sans"/>
              <a:buNone/>
              <a:defRPr sz="35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BM Plex Sans"/>
              <a:buNone/>
              <a:defRPr sz="35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BM Plex Sans"/>
              <a:buNone/>
              <a:defRPr sz="35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BM Plex Sans"/>
              <a:buNone/>
              <a:defRPr sz="35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BM Plex Sans"/>
              <a:buNone/>
              <a:defRPr sz="35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●"/>
              <a:defRPr sz="12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○"/>
              <a:defRPr sz="12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■"/>
              <a:defRPr sz="12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●"/>
              <a:defRPr sz="12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○"/>
              <a:defRPr sz="12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■"/>
              <a:defRPr sz="12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●"/>
              <a:defRPr sz="12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○"/>
              <a:defRPr sz="12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■"/>
              <a:defRPr sz="12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7" r:id="rId9"/>
    <p:sldLayoutId id="2147483668" r:id="rId10"/>
    <p:sldLayoutId id="214748366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tooq.com/q/d/l/?s=aapl.us&amp;i=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"/>
          <p:cNvSpPr txBox="1">
            <a:spLocks noGrp="1"/>
          </p:cNvSpPr>
          <p:nvPr>
            <p:ph type="ctrTitle"/>
          </p:nvPr>
        </p:nvSpPr>
        <p:spPr>
          <a:xfrm>
            <a:off x="2344339" y="1320729"/>
            <a:ext cx="4455321" cy="17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Analyst </a:t>
            </a:r>
            <a:br>
              <a:rPr lang="en-US" dirty="0"/>
            </a:br>
            <a:r>
              <a:rPr lang="en-US" dirty="0"/>
              <a:t>Diploma</a:t>
            </a:r>
            <a:endParaRPr dirty="0"/>
          </a:p>
        </p:txBody>
      </p:sp>
      <p:sp>
        <p:nvSpPr>
          <p:cNvPr id="299" name="Google Shape;299;p27"/>
          <p:cNvSpPr txBox="1">
            <a:spLocks noGrp="1"/>
          </p:cNvSpPr>
          <p:nvPr>
            <p:ph type="subTitle" idx="1"/>
          </p:nvPr>
        </p:nvSpPr>
        <p:spPr>
          <a:xfrm>
            <a:off x="626899" y="4405336"/>
            <a:ext cx="3185937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Made By : Eng. Mohamed Saad</a:t>
            </a:r>
          </a:p>
        </p:txBody>
      </p:sp>
      <p:pic>
        <p:nvPicPr>
          <p:cNvPr id="300" name="Google Shape;300;p27"/>
          <p:cNvPicPr preferRelativeResize="0"/>
          <p:nvPr/>
        </p:nvPicPr>
        <p:blipFill rotWithShape="1">
          <a:blip r:embed="rId3">
            <a:alphaModFix/>
          </a:blip>
          <a:srcRect l="-10" t="26428" r="10" b="29050"/>
          <a:stretch/>
        </p:blipFill>
        <p:spPr>
          <a:xfrm rot="-5400000">
            <a:off x="4435776" y="1556955"/>
            <a:ext cx="36200" cy="2995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 flipH="1">
            <a:off x="7929603" y="-304870"/>
            <a:ext cx="68950" cy="15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47449" y="3917999"/>
            <a:ext cx="79450" cy="9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7369991" y="-1019026"/>
            <a:ext cx="35250" cy="26750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4" name="Google Shape;304;p27"/>
          <p:cNvCxnSpPr/>
          <p:nvPr/>
        </p:nvCxnSpPr>
        <p:spPr>
          <a:xfrm rot="-5400000">
            <a:off x="-671499" y="3785624"/>
            <a:ext cx="2205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305" name="Google Shape;305;p27"/>
          <p:cNvSpPr/>
          <p:nvPr/>
        </p:nvSpPr>
        <p:spPr>
          <a:xfrm>
            <a:off x="341800" y="297700"/>
            <a:ext cx="237300" cy="23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6" name="Google Shape;306;p27"/>
          <p:cNvSpPr/>
          <p:nvPr/>
        </p:nvSpPr>
        <p:spPr>
          <a:xfrm rot="2700000">
            <a:off x="90053" y="219429"/>
            <a:ext cx="398808" cy="6109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Picture 1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147FD827-EDD5-D3E0-CD04-94A573FFA0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2400" y="4550517"/>
            <a:ext cx="449691" cy="4524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" grpId="0"/>
      <p:bldP spid="299" grpId="0" build="p"/>
      <p:bldP spid="305" grpId="0" animBg="1"/>
      <p:bldP spid="30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/>
          <p:cNvSpPr txBox="1">
            <a:spLocks noGrp="1"/>
          </p:cNvSpPr>
          <p:nvPr>
            <p:ph type="title"/>
          </p:nvPr>
        </p:nvSpPr>
        <p:spPr>
          <a:xfrm>
            <a:off x="1911953" y="283659"/>
            <a:ext cx="4916230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Introduction</a:t>
            </a:r>
            <a:endParaRPr dirty="0"/>
          </a:p>
        </p:txBody>
      </p:sp>
      <p:grpSp>
        <p:nvGrpSpPr>
          <p:cNvPr id="7" name="Google Shape;6896;p64">
            <a:extLst>
              <a:ext uri="{FF2B5EF4-FFF2-40B4-BE49-F238E27FC236}">
                <a16:creationId xmlns:a16="http://schemas.microsoft.com/office/drawing/2014/main" id="{5A30789C-9E10-4279-A2FF-CB34AC04D7B3}"/>
              </a:ext>
            </a:extLst>
          </p:cNvPr>
          <p:cNvGrpSpPr/>
          <p:nvPr/>
        </p:nvGrpSpPr>
        <p:grpSpPr>
          <a:xfrm>
            <a:off x="396290" y="979150"/>
            <a:ext cx="299204" cy="354518"/>
            <a:chOff x="-48233050" y="3569725"/>
            <a:chExt cx="252050" cy="299475"/>
          </a:xfrm>
          <a:solidFill>
            <a:schemeClr val="tx1"/>
          </a:solidFill>
        </p:grpSpPr>
        <p:sp>
          <p:nvSpPr>
            <p:cNvPr id="8" name="Google Shape;6897;p64">
              <a:extLst>
                <a:ext uri="{FF2B5EF4-FFF2-40B4-BE49-F238E27FC236}">
                  <a16:creationId xmlns:a16="http://schemas.microsoft.com/office/drawing/2014/main" id="{171FC4C0-C08F-4B7C-9101-BB1DE6CA86C0}"/>
                </a:ext>
              </a:extLst>
            </p:cNvPr>
            <p:cNvSpPr/>
            <p:nvPr/>
          </p:nvSpPr>
          <p:spPr>
            <a:xfrm>
              <a:off x="-48233050" y="3569725"/>
              <a:ext cx="252050" cy="299475"/>
            </a:xfrm>
            <a:custGeom>
              <a:avLst/>
              <a:gdLst/>
              <a:ahLst/>
              <a:cxnLst/>
              <a:rect l="l" t="t" r="r" b="b"/>
              <a:pathLst>
                <a:path w="10082" h="11979" extrusionOk="0">
                  <a:moveTo>
                    <a:pt x="5230" y="1393"/>
                  </a:moveTo>
                  <a:cubicBezTo>
                    <a:pt x="5419" y="1393"/>
                    <a:pt x="5577" y="1551"/>
                    <a:pt x="5577" y="1740"/>
                  </a:cubicBezTo>
                  <a:lnTo>
                    <a:pt x="5577" y="1960"/>
                  </a:lnTo>
                  <a:cubicBezTo>
                    <a:pt x="5703" y="2023"/>
                    <a:pt x="5829" y="2086"/>
                    <a:pt x="5923" y="2181"/>
                  </a:cubicBezTo>
                  <a:lnTo>
                    <a:pt x="6144" y="2055"/>
                  </a:lnTo>
                  <a:cubicBezTo>
                    <a:pt x="6194" y="2025"/>
                    <a:pt x="6251" y="2011"/>
                    <a:pt x="6308" y="2011"/>
                  </a:cubicBezTo>
                  <a:cubicBezTo>
                    <a:pt x="6430" y="2011"/>
                    <a:pt x="6552" y="2074"/>
                    <a:pt x="6616" y="2181"/>
                  </a:cubicBezTo>
                  <a:lnTo>
                    <a:pt x="7309" y="3410"/>
                  </a:lnTo>
                  <a:cubicBezTo>
                    <a:pt x="7467" y="3725"/>
                    <a:pt x="7246" y="3819"/>
                    <a:pt x="6963" y="3977"/>
                  </a:cubicBezTo>
                  <a:lnTo>
                    <a:pt x="6963" y="4386"/>
                  </a:lnTo>
                  <a:cubicBezTo>
                    <a:pt x="7246" y="4544"/>
                    <a:pt x="7467" y="4670"/>
                    <a:pt x="7309" y="4985"/>
                  </a:cubicBezTo>
                  <a:lnTo>
                    <a:pt x="6616" y="6182"/>
                  </a:lnTo>
                  <a:cubicBezTo>
                    <a:pt x="6531" y="6289"/>
                    <a:pt x="6417" y="6366"/>
                    <a:pt x="6303" y="6366"/>
                  </a:cubicBezTo>
                  <a:cubicBezTo>
                    <a:pt x="6249" y="6366"/>
                    <a:pt x="6195" y="6349"/>
                    <a:pt x="6144" y="6308"/>
                  </a:cubicBezTo>
                  <a:lnTo>
                    <a:pt x="5923" y="6182"/>
                  </a:lnTo>
                  <a:cubicBezTo>
                    <a:pt x="5829" y="6277"/>
                    <a:pt x="5703" y="6340"/>
                    <a:pt x="5577" y="6403"/>
                  </a:cubicBezTo>
                  <a:lnTo>
                    <a:pt x="5577" y="6623"/>
                  </a:lnTo>
                  <a:cubicBezTo>
                    <a:pt x="5577" y="6812"/>
                    <a:pt x="5419" y="6970"/>
                    <a:pt x="5230" y="6970"/>
                  </a:cubicBezTo>
                  <a:lnTo>
                    <a:pt x="3812" y="6970"/>
                  </a:lnTo>
                  <a:cubicBezTo>
                    <a:pt x="3623" y="6970"/>
                    <a:pt x="3466" y="6812"/>
                    <a:pt x="3466" y="6623"/>
                  </a:cubicBezTo>
                  <a:lnTo>
                    <a:pt x="3466" y="6403"/>
                  </a:lnTo>
                  <a:cubicBezTo>
                    <a:pt x="3340" y="6340"/>
                    <a:pt x="3214" y="6277"/>
                    <a:pt x="3119" y="6182"/>
                  </a:cubicBezTo>
                  <a:lnTo>
                    <a:pt x="2899" y="6308"/>
                  </a:lnTo>
                  <a:cubicBezTo>
                    <a:pt x="2848" y="6338"/>
                    <a:pt x="2791" y="6352"/>
                    <a:pt x="2734" y="6352"/>
                  </a:cubicBezTo>
                  <a:cubicBezTo>
                    <a:pt x="2613" y="6352"/>
                    <a:pt x="2490" y="6289"/>
                    <a:pt x="2426" y="6182"/>
                  </a:cubicBezTo>
                  <a:lnTo>
                    <a:pt x="1733" y="4985"/>
                  </a:lnTo>
                  <a:cubicBezTo>
                    <a:pt x="1638" y="4827"/>
                    <a:pt x="1670" y="4575"/>
                    <a:pt x="1859" y="4512"/>
                  </a:cubicBezTo>
                  <a:lnTo>
                    <a:pt x="2048" y="4386"/>
                  </a:lnTo>
                  <a:lnTo>
                    <a:pt x="2048" y="3977"/>
                  </a:lnTo>
                  <a:lnTo>
                    <a:pt x="1859" y="3882"/>
                  </a:lnTo>
                  <a:cubicBezTo>
                    <a:pt x="1702" y="3788"/>
                    <a:pt x="1607" y="3536"/>
                    <a:pt x="1733" y="3410"/>
                  </a:cubicBezTo>
                  <a:lnTo>
                    <a:pt x="2426" y="2181"/>
                  </a:lnTo>
                  <a:cubicBezTo>
                    <a:pt x="2490" y="2074"/>
                    <a:pt x="2612" y="1997"/>
                    <a:pt x="2733" y="1997"/>
                  </a:cubicBezTo>
                  <a:cubicBezTo>
                    <a:pt x="2790" y="1997"/>
                    <a:pt x="2848" y="2014"/>
                    <a:pt x="2899" y="2055"/>
                  </a:cubicBezTo>
                  <a:lnTo>
                    <a:pt x="3119" y="2181"/>
                  </a:lnTo>
                  <a:cubicBezTo>
                    <a:pt x="3214" y="2086"/>
                    <a:pt x="3340" y="2023"/>
                    <a:pt x="3466" y="1960"/>
                  </a:cubicBezTo>
                  <a:lnTo>
                    <a:pt x="3466" y="1740"/>
                  </a:lnTo>
                  <a:cubicBezTo>
                    <a:pt x="3466" y="1551"/>
                    <a:pt x="3623" y="1393"/>
                    <a:pt x="3812" y="1393"/>
                  </a:cubicBezTo>
                  <a:close/>
                  <a:moveTo>
                    <a:pt x="4547" y="0"/>
                  </a:moveTo>
                  <a:cubicBezTo>
                    <a:pt x="3499" y="0"/>
                    <a:pt x="2484" y="337"/>
                    <a:pt x="1670" y="984"/>
                  </a:cubicBezTo>
                  <a:cubicBezTo>
                    <a:pt x="630" y="1866"/>
                    <a:pt x="0" y="3158"/>
                    <a:pt x="0" y="4544"/>
                  </a:cubicBezTo>
                  <a:cubicBezTo>
                    <a:pt x="0" y="5804"/>
                    <a:pt x="504" y="6970"/>
                    <a:pt x="1418" y="7852"/>
                  </a:cubicBezTo>
                  <a:lnTo>
                    <a:pt x="1418" y="11632"/>
                  </a:lnTo>
                  <a:cubicBezTo>
                    <a:pt x="1418" y="11821"/>
                    <a:pt x="1575" y="11979"/>
                    <a:pt x="1765" y="11979"/>
                  </a:cubicBezTo>
                  <a:lnTo>
                    <a:pt x="5986" y="11979"/>
                  </a:lnTo>
                  <a:cubicBezTo>
                    <a:pt x="6175" y="11979"/>
                    <a:pt x="6333" y="11821"/>
                    <a:pt x="6333" y="11632"/>
                  </a:cubicBezTo>
                  <a:lnTo>
                    <a:pt x="6333" y="10530"/>
                  </a:lnTo>
                  <a:lnTo>
                    <a:pt x="8097" y="10530"/>
                  </a:lnTo>
                  <a:cubicBezTo>
                    <a:pt x="8286" y="10530"/>
                    <a:pt x="8444" y="10372"/>
                    <a:pt x="8444" y="10183"/>
                  </a:cubicBezTo>
                  <a:lnTo>
                    <a:pt x="8444" y="8387"/>
                  </a:lnTo>
                  <a:lnTo>
                    <a:pt x="9042" y="8387"/>
                  </a:lnTo>
                  <a:cubicBezTo>
                    <a:pt x="9389" y="8387"/>
                    <a:pt x="9767" y="8198"/>
                    <a:pt x="9956" y="7883"/>
                  </a:cubicBezTo>
                  <a:cubicBezTo>
                    <a:pt x="10082" y="7568"/>
                    <a:pt x="10082" y="7190"/>
                    <a:pt x="9924" y="6875"/>
                  </a:cubicBezTo>
                  <a:lnTo>
                    <a:pt x="9042" y="5237"/>
                  </a:lnTo>
                  <a:cubicBezTo>
                    <a:pt x="9137" y="4701"/>
                    <a:pt x="9137" y="4134"/>
                    <a:pt x="9011" y="3599"/>
                  </a:cubicBezTo>
                  <a:cubicBezTo>
                    <a:pt x="8664" y="1866"/>
                    <a:pt x="7246" y="480"/>
                    <a:pt x="5545" y="102"/>
                  </a:cubicBezTo>
                  <a:cubicBezTo>
                    <a:pt x="5213" y="34"/>
                    <a:pt x="4878" y="0"/>
                    <a:pt x="45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" name="Google Shape;6898;p64">
              <a:extLst>
                <a:ext uri="{FF2B5EF4-FFF2-40B4-BE49-F238E27FC236}">
                  <a16:creationId xmlns:a16="http://schemas.microsoft.com/office/drawing/2014/main" id="{9F5293DC-21B1-4895-B086-4D7152ECC6EB}"/>
                </a:ext>
              </a:extLst>
            </p:cNvPr>
            <p:cNvSpPr/>
            <p:nvPr/>
          </p:nvSpPr>
          <p:spPr>
            <a:xfrm>
              <a:off x="-48170050" y="3622650"/>
              <a:ext cx="100050" cy="103225"/>
            </a:xfrm>
            <a:custGeom>
              <a:avLst/>
              <a:gdLst/>
              <a:ahLst/>
              <a:cxnLst/>
              <a:rect l="l" t="t" r="r" b="b"/>
              <a:pathLst>
                <a:path w="4002" h="4129" extrusionOk="0">
                  <a:moveTo>
                    <a:pt x="1985" y="1009"/>
                  </a:moveTo>
                  <a:cubicBezTo>
                    <a:pt x="2584" y="1009"/>
                    <a:pt x="3057" y="1482"/>
                    <a:pt x="3057" y="2080"/>
                  </a:cubicBezTo>
                  <a:cubicBezTo>
                    <a:pt x="3057" y="2647"/>
                    <a:pt x="2584" y="3120"/>
                    <a:pt x="1985" y="3120"/>
                  </a:cubicBezTo>
                  <a:cubicBezTo>
                    <a:pt x="1418" y="3120"/>
                    <a:pt x="946" y="2647"/>
                    <a:pt x="946" y="2080"/>
                  </a:cubicBezTo>
                  <a:cubicBezTo>
                    <a:pt x="946" y="1482"/>
                    <a:pt x="1418" y="1009"/>
                    <a:pt x="1985" y="1009"/>
                  </a:cubicBezTo>
                  <a:close/>
                  <a:moveTo>
                    <a:pt x="1639" y="1"/>
                  </a:moveTo>
                  <a:lnTo>
                    <a:pt x="1639" y="127"/>
                  </a:lnTo>
                  <a:cubicBezTo>
                    <a:pt x="1639" y="284"/>
                    <a:pt x="1576" y="410"/>
                    <a:pt x="1418" y="442"/>
                  </a:cubicBezTo>
                  <a:cubicBezTo>
                    <a:pt x="1198" y="537"/>
                    <a:pt x="1009" y="631"/>
                    <a:pt x="851" y="757"/>
                  </a:cubicBezTo>
                  <a:cubicBezTo>
                    <a:pt x="770" y="818"/>
                    <a:pt x="689" y="853"/>
                    <a:pt x="607" y="853"/>
                  </a:cubicBezTo>
                  <a:cubicBezTo>
                    <a:pt x="562" y="853"/>
                    <a:pt x="518" y="842"/>
                    <a:pt x="473" y="820"/>
                  </a:cubicBezTo>
                  <a:lnTo>
                    <a:pt x="347" y="726"/>
                  </a:lnTo>
                  <a:lnTo>
                    <a:pt x="1" y="1324"/>
                  </a:lnTo>
                  <a:lnTo>
                    <a:pt x="127" y="1387"/>
                  </a:lnTo>
                  <a:cubicBezTo>
                    <a:pt x="221" y="1482"/>
                    <a:pt x="316" y="1639"/>
                    <a:pt x="253" y="1765"/>
                  </a:cubicBezTo>
                  <a:cubicBezTo>
                    <a:pt x="221" y="1986"/>
                    <a:pt x="221" y="2143"/>
                    <a:pt x="253" y="2395"/>
                  </a:cubicBezTo>
                  <a:cubicBezTo>
                    <a:pt x="316" y="2553"/>
                    <a:pt x="221" y="2647"/>
                    <a:pt x="127" y="2742"/>
                  </a:cubicBezTo>
                  <a:lnTo>
                    <a:pt x="1" y="2805"/>
                  </a:lnTo>
                  <a:lnTo>
                    <a:pt x="347" y="3403"/>
                  </a:lnTo>
                  <a:lnTo>
                    <a:pt x="473" y="3340"/>
                  </a:lnTo>
                  <a:cubicBezTo>
                    <a:pt x="532" y="3297"/>
                    <a:pt x="590" y="3273"/>
                    <a:pt x="649" y="3273"/>
                  </a:cubicBezTo>
                  <a:cubicBezTo>
                    <a:pt x="716" y="3273"/>
                    <a:pt x="784" y="3304"/>
                    <a:pt x="851" y="3372"/>
                  </a:cubicBezTo>
                  <a:cubicBezTo>
                    <a:pt x="1009" y="3529"/>
                    <a:pt x="1198" y="3592"/>
                    <a:pt x="1418" y="3687"/>
                  </a:cubicBezTo>
                  <a:cubicBezTo>
                    <a:pt x="1576" y="3718"/>
                    <a:pt x="1639" y="3876"/>
                    <a:pt x="1639" y="4002"/>
                  </a:cubicBezTo>
                  <a:lnTo>
                    <a:pt x="1639" y="4128"/>
                  </a:lnTo>
                  <a:lnTo>
                    <a:pt x="2364" y="4128"/>
                  </a:lnTo>
                  <a:lnTo>
                    <a:pt x="2364" y="4002"/>
                  </a:lnTo>
                  <a:cubicBezTo>
                    <a:pt x="2364" y="3845"/>
                    <a:pt x="2427" y="3718"/>
                    <a:pt x="2584" y="3687"/>
                  </a:cubicBezTo>
                  <a:cubicBezTo>
                    <a:pt x="2805" y="3592"/>
                    <a:pt x="2994" y="3498"/>
                    <a:pt x="3151" y="3372"/>
                  </a:cubicBezTo>
                  <a:cubicBezTo>
                    <a:pt x="3224" y="3317"/>
                    <a:pt x="3298" y="3283"/>
                    <a:pt x="3371" y="3283"/>
                  </a:cubicBezTo>
                  <a:cubicBezTo>
                    <a:pt x="3424" y="3283"/>
                    <a:pt x="3476" y="3301"/>
                    <a:pt x="3529" y="3340"/>
                  </a:cubicBezTo>
                  <a:lnTo>
                    <a:pt x="3655" y="3403"/>
                  </a:lnTo>
                  <a:lnTo>
                    <a:pt x="4002" y="2805"/>
                  </a:lnTo>
                  <a:lnTo>
                    <a:pt x="3876" y="2742"/>
                  </a:lnTo>
                  <a:cubicBezTo>
                    <a:pt x="3781" y="2647"/>
                    <a:pt x="3687" y="2490"/>
                    <a:pt x="3750" y="2395"/>
                  </a:cubicBezTo>
                  <a:cubicBezTo>
                    <a:pt x="3781" y="2143"/>
                    <a:pt x="3781" y="1986"/>
                    <a:pt x="3750" y="1765"/>
                  </a:cubicBezTo>
                  <a:cubicBezTo>
                    <a:pt x="3687" y="1608"/>
                    <a:pt x="3781" y="1482"/>
                    <a:pt x="3876" y="1387"/>
                  </a:cubicBezTo>
                  <a:lnTo>
                    <a:pt x="4002" y="1324"/>
                  </a:lnTo>
                  <a:lnTo>
                    <a:pt x="3655" y="726"/>
                  </a:lnTo>
                  <a:lnTo>
                    <a:pt x="3529" y="820"/>
                  </a:lnTo>
                  <a:cubicBezTo>
                    <a:pt x="3477" y="846"/>
                    <a:pt x="3425" y="861"/>
                    <a:pt x="3373" y="861"/>
                  </a:cubicBezTo>
                  <a:cubicBezTo>
                    <a:pt x="3299" y="861"/>
                    <a:pt x="3225" y="831"/>
                    <a:pt x="3151" y="757"/>
                  </a:cubicBezTo>
                  <a:cubicBezTo>
                    <a:pt x="2994" y="600"/>
                    <a:pt x="2805" y="537"/>
                    <a:pt x="2584" y="442"/>
                  </a:cubicBezTo>
                  <a:cubicBezTo>
                    <a:pt x="2427" y="410"/>
                    <a:pt x="2364" y="253"/>
                    <a:pt x="2364" y="127"/>
                  </a:cubicBezTo>
                  <a:lnTo>
                    <a:pt x="23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" name="Google Shape;6899;p64">
              <a:extLst>
                <a:ext uri="{FF2B5EF4-FFF2-40B4-BE49-F238E27FC236}">
                  <a16:creationId xmlns:a16="http://schemas.microsoft.com/office/drawing/2014/main" id="{4979FA46-47B5-48C6-92BD-74CDB61C9651}"/>
                </a:ext>
              </a:extLst>
            </p:cNvPr>
            <p:cNvSpPr/>
            <p:nvPr/>
          </p:nvSpPr>
          <p:spPr>
            <a:xfrm>
              <a:off x="-48129100" y="36652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6" y="567"/>
                    <a:pt x="726" y="378"/>
                  </a:cubicBezTo>
                  <a:cubicBezTo>
                    <a:pt x="726" y="158"/>
                    <a:pt x="568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0000"/>
                </a:highlight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7AAAD7C-E2AC-40BF-8D51-3A2085C07C2E}"/>
              </a:ext>
            </a:extLst>
          </p:cNvPr>
          <p:cNvSpPr txBox="1"/>
          <p:nvPr/>
        </p:nvSpPr>
        <p:spPr>
          <a:xfrm>
            <a:off x="744105" y="921698"/>
            <a:ext cx="233569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/>
              <a:t>Who I’m ?:</a:t>
            </a:r>
            <a:r>
              <a:rPr lang="en-US" sz="2400" dirty="0"/>
              <a:t> </a:t>
            </a:r>
            <a:endParaRPr lang="ar-EG" sz="1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6BAE28-0081-C8BB-171B-FCB7E4BC433C}"/>
              </a:ext>
            </a:extLst>
          </p:cNvPr>
          <p:cNvSpPr txBox="1"/>
          <p:nvPr/>
        </p:nvSpPr>
        <p:spPr>
          <a:xfrm>
            <a:off x="1127456" y="2161173"/>
            <a:ext cx="2908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Vodafone "/>
              </a:rPr>
              <a:t>Business Reporting Analyst </a:t>
            </a:r>
          </a:p>
          <a:p>
            <a:pPr algn="ctr"/>
            <a:r>
              <a:rPr lang="en-US" sz="1800" dirty="0">
                <a:latin typeface="Vodafone "/>
              </a:rPr>
              <a:t>at Vodafone Business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F65EC35-351B-711D-E9FE-0D78A050C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33" y="1201384"/>
            <a:ext cx="2335696" cy="127235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4AD8DBE-BFAF-CB2E-84D8-9472F31F3E5C}"/>
              </a:ext>
            </a:extLst>
          </p:cNvPr>
          <p:cNvSpPr txBox="1"/>
          <p:nvPr/>
        </p:nvSpPr>
        <p:spPr>
          <a:xfrm>
            <a:off x="5237759" y="2161173"/>
            <a:ext cx="2580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Vodafone "/>
              </a:rPr>
              <a:t>Data Analytics Engineer</a:t>
            </a:r>
          </a:p>
          <a:p>
            <a:pPr algn="ctr"/>
            <a:r>
              <a:rPr lang="en-US" sz="1800" dirty="0">
                <a:latin typeface="Vodafone "/>
              </a:rPr>
              <a:t>at SustainGRC</a:t>
            </a:r>
          </a:p>
        </p:txBody>
      </p:sp>
      <p:pic>
        <p:nvPicPr>
          <p:cNvPr id="32" name="Picture 3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C68EF0D-C360-A4B6-D138-63E71ADE8B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2639" y="979150"/>
            <a:ext cx="1861961" cy="179603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6089220-A08C-8179-1BEE-6E63DFF39F05}"/>
              </a:ext>
            </a:extLst>
          </p:cNvPr>
          <p:cNvSpPr txBox="1"/>
          <p:nvPr/>
        </p:nvSpPr>
        <p:spPr>
          <a:xfrm>
            <a:off x="5101812" y="4012755"/>
            <a:ext cx="2580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Vodafone "/>
              </a:rPr>
              <a:t>Power Bi Developer</a:t>
            </a:r>
          </a:p>
          <a:p>
            <a:pPr algn="ctr"/>
            <a:r>
              <a:rPr lang="en-US" sz="1800" dirty="0">
                <a:latin typeface="Vodafone "/>
              </a:rPr>
              <a:t>at ADROTECH</a:t>
            </a:r>
          </a:p>
        </p:txBody>
      </p:sp>
      <p:pic>
        <p:nvPicPr>
          <p:cNvPr id="34" name="Picture 33" descr="A logo with a triangle and text&#10;&#10;AI-generated content may be incorrect.">
            <a:extLst>
              <a:ext uri="{FF2B5EF4-FFF2-40B4-BE49-F238E27FC236}">
                <a16:creationId xmlns:a16="http://schemas.microsoft.com/office/drawing/2014/main" id="{19CEA854-B6A0-C9A0-529F-F6FFFCCE9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9599" y="2643602"/>
            <a:ext cx="1905000" cy="169231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11F8CE7-0131-0920-2BAE-FAB7980C5BF1}"/>
              </a:ext>
            </a:extLst>
          </p:cNvPr>
          <p:cNvSpPr txBox="1"/>
          <p:nvPr/>
        </p:nvSpPr>
        <p:spPr>
          <a:xfrm>
            <a:off x="1277433" y="3952221"/>
            <a:ext cx="2580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Vodafone "/>
              </a:rPr>
              <a:t>Data Analyst Instructor</a:t>
            </a:r>
          </a:p>
          <a:p>
            <a:pPr algn="ctr"/>
            <a:r>
              <a:rPr lang="en-US" sz="1800" dirty="0">
                <a:latin typeface="Vodafone "/>
              </a:rPr>
              <a:t>at Elharefa</a:t>
            </a:r>
          </a:p>
        </p:txBody>
      </p:sp>
      <p:pic>
        <p:nvPicPr>
          <p:cNvPr id="36" name="Picture 35" descr="A logo with purple and orange dots&#10;&#10;AI-generated content may be incorrect.">
            <a:extLst>
              <a:ext uri="{FF2B5EF4-FFF2-40B4-BE49-F238E27FC236}">
                <a16:creationId xmlns:a16="http://schemas.microsoft.com/office/drawing/2014/main" id="{08B9499F-D1DE-BEC8-48DB-9027368E89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462" y="2786309"/>
            <a:ext cx="1786105" cy="1573715"/>
          </a:xfrm>
          <a:prstGeom prst="rect">
            <a:avLst/>
          </a:prstGeom>
        </p:spPr>
      </p:pic>
      <p:pic>
        <p:nvPicPr>
          <p:cNvPr id="5" name="Picture 4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FD5B9029-97EF-BACB-3010-5D4B67B978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2400" y="4550517"/>
            <a:ext cx="449691" cy="4524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4" grpId="0"/>
      <p:bldP spid="28" grpId="0"/>
      <p:bldP spid="31" grpId="0"/>
      <p:bldP spid="33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8D663CBA-B654-536B-9E96-9F190F249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8D6D2793-28CF-074E-EAB3-B5ACFD066E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1953" y="283659"/>
            <a:ext cx="4916230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Introduction</a:t>
            </a:r>
            <a:endParaRPr dirty="0"/>
          </a:p>
        </p:txBody>
      </p:sp>
      <p:grpSp>
        <p:nvGrpSpPr>
          <p:cNvPr id="7" name="Google Shape;6896;p64">
            <a:extLst>
              <a:ext uri="{FF2B5EF4-FFF2-40B4-BE49-F238E27FC236}">
                <a16:creationId xmlns:a16="http://schemas.microsoft.com/office/drawing/2014/main" id="{49907D64-B845-F2A4-B2E8-3819ED5A75C3}"/>
              </a:ext>
            </a:extLst>
          </p:cNvPr>
          <p:cNvGrpSpPr/>
          <p:nvPr/>
        </p:nvGrpSpPr>
        <p:grpSpPr>
          <a:xfrm>
            <a:off x="222382" y="921698"/>
            <a:ext cx="356616" cy="338328"/>
            <a:chOff x="-48233050" y="3569725"/>
            <a:chExt cx="252050" cy="299475"/>
          </a:xfrm>
          <a:solidFill>
            <a:schemeClr val="tx1"/>
          </a:solidFill>
        </p:grpSpPr>
        <p:sp>
          <p:nvSpPr>
            <p:cNvPr id="8" name="Google Shape;6897;p64">
              <a:extLst>
                <a:ext uri="{FF2B5EF4-FFF2-40B4-BE49-F238E27FC236}">
                  <a16:creationId xmlns:a16="http://schemas.microsoft.com/office/drawing/2014/main" id="{6DD02261-B7B5-7E7F-367D-0C03AB64B27D}"/>
                </a:ext>
              </a:extLst>
            </p:cNvPr>
            <p:cNvSpPr/>
            <p:nvPr/>
          </p:nvSpPr>
          <p:spPr>
            <a:xfrm>
              <a:off x="-48233050" y="3569725"/>
              <a:ext cx="252050" cy="299475"/>
            </a:xfrm>
            <a:custGeom>
              <a:avLst/>
              <a:gdLst/>
              <a:ahLst/>
              <a:cxnLst/>
              <a:rect l="l" t="t" r="r" b="b"/>
              <a:pathLst>
                <a:path w="10082" h="11979" extrusionOk="0">
                  <a:moveTo>
                    <a:pt x="5230" y="1393"/>
                  </a:moveTo>
                  <a:cubicBezTo>
                    <a:pt x="5419" y="1393"/>
                    <a:pt x="5577" y="1551"/>
                    <a:pt x="5577" y="1740"/>
                  </a:cubicBezTo>
                  <a:lnTo>
                    <a:pt x="5577" y="1960"/>
                  </a:lnTo>
                  <a:cubicBezTo>
                    <a:pt x="5703" y="2023"/>
                    <a:pt x="5829" y="2086"/>
                    <a:pt x="5923" y="2181"/>
                  </a:cubicBezTo>
                  <a:lnTo>
                    <a:pt x="6144" y="2055"/>
                  </a:lnTo>
                  <a:cubicBezTo>
                    <a:pt x="6194" y="2025"/>
                    <a:pt x="6251" y="2011"/>
                    <a:pt x="6308" y="2011"/>
                  </a:cubicBezTo>
                  <a:cubicBezTo>
                    <a:pt x="6430" y="2011"/>
                    <a:pt x="6552" y="2074"/>
                    <a:pt x="6616" y="2181"/>
                  </a:cubicBezTo>
                  <a:lnTo>
                    <a:pt x="7309" y="3410"/>
                  </a:lnTo>
                  <a:cubicBezTo>
                    <a:pt x="7467" y="3725"/>
                    <a:pt x="7246" y="3819"/>
                    <a:pt x="6963" y="3977"/>
                  </a:cubicBezTo>
                  <a:lnTo>
                    <a:pt x="6963" y="4386"/>
                  </a:lnTo>
                  <a:cubicBezTo>
                    <a:pt x="7246" y="4544"/>
                    <a:pt x="7467" y="4670"/>
                    <a:pt x="7309" y="4985"/>
                  </a:cubicBezTo>
                  <a:lnTo>
                    <a:pt x="6616" y="6182"/>
                  </a:lnTo>
                  <a:cubicBezTo>
                    <a:pt x="6531" y="6289"/>
                    <a:pt x="6417" y="6366"/>
                    <a:pt x="6303" y="6366"/>
                  </a:cubicBezTo>
                  <a:cubicBezTo>
                    <a:pt x="6249" y="6366"/>
                    <a:pt x="6195" y="6349"/>
                    <a:pt x="6144" y="6308"/>
                  </a:cubicBezTo>
                  <a:lnTo>
                    <a:pt x="5923" y="6182"/>
                  </a:lnTo>
                  <a:cubicBezTo>
                    <a:pt x="5829" y="6277"/>
                    <a:pt x="5703" y="6340"/>
                    <a:pt x="5577" y="6403"/>
                  </a:cubicBezTo>
                  <a:lnTo>
                    <a:pt x="5577" y="6623"/>
                  </a:lnTo>
                  <a:cubicBezTo>
                    <a:pt x="5577" y="6812"/>
                    <a:pt x="5419" y="6970"/>
                    <a:pt x="5230" y="6970"/>
                  </a:cubicBezTo>
                  <a:lnTo>
                    <a:pt x="3812" y="6970"/>
                  </a:lnTo>
                  <a:cubicBezTo>
                    <a:pt x="3623" y="6970"/>
                    <a:pt x="3466" y="6812"/>
                    <a:pt x="3466" y="6623"/>
                  </a:cubicBezTo>
                  <a:lnTo>
                    <a:pt x="3466" y="6403"/>
                  </a:lnTo>
                  <a:cubicBezTo>
                    <a:pt x="3340" y="6340"/>
                    <a:pt x="3214" y="6277"/>
                    <a:pt x="3119" y="6182"/>
                  </a:cubicBezTo>
                  <a:lnTo>
                    <a:pt x="2899" y="6308"/>
                  </a:lnTo>
                  <a:cubicBezTo>
                    <a:pt x="2848" y="6338"/>
                    <a:pt x="2791" y="6352"/>
                    <a:pt x="2734" y="6352"/>
                  </a:cubicBezTo>
                  <a:cubicBezTo>
                    <a:pt x="2613" y="6352"/>
                    <a:pt x="2490" y="6289"/>
                    <a:pt x="2426" y="6182"/>
                  </a:cubicBezTo>
                  <a:lnTo>
                    <a:pt x="1733" y="4985"/>
                  </a:lnTo>
                  <a:cubicBezTo>
                    <a:pt x="1638" y="4827"/>
                    <a:pt x="1670" y="4575"/>
                    <a:pt x="1859" y="4512"/>
                  </a:cubicBezTo>
                  <a:lnTo>
                    <a:pt x="2048" y="4386"/>
                  </a:lnTo>
                  <a:lnTo>
                    <a:pt x="2048" y="3977"/>
                  </a:lnTo>
                  <a:lnTo>
                    <a:pt x="1859" y="3882"/>
                  </a:lnTo>
                  <a:cubicBezTo>
                    <a:pt x="1702" y="3788"/>
                    <a:pt x="1607" y="3536"/>
                    <a:pt x="1733" y="3410"/>
                  </a:cubicBezTo>
                  <a:lnTo>
                    <a:pt x="2426" y="2181"/>
                  </a:lnTo>
                  <a:cubicBezTo>
                    <a:pt x="2490" y="2074"/>
                    <a:pt x="2612" y="1997"/>
                    <a:pt x="2733" y="1997"/>
                  </a:cubicBezTo>
                  <a:cubicBezTo>
                    <a:pt x="2790" y="1997"/>
                    <a:pt x="2848" y="2014"/>
                    <a:pt x="2899" y="2055"/>
                  </a:cubicBezTo>
                  <a:lnTo>
                    <a:pt x="3119" y="2181"/>
                  </a:lnTo>
                  <a:cubicBezTo>
                    <a:pt x="3214" y="2086"/>
                    <a:pt x="3340" y="2023"/>
                    <a:pt x="3466" y="1960"/>
                  </a:cubicBezTo>
                  <a:lnTo>
                    <a:pt x="3466" y="1740"/>
                  </a:lnTo>
                  <a:cubicBezTo>
                    <a:pt x="3466" y="1551"/>
                    <a:pt x="3623" y="1393"/>
                    <a:pt x="3812" y="1393"/>
                  </a:cubicBezTo>
                  <a:close/>
                  <a:moveTo>
                    <a:pt x="4547" y="0"/>
                  </a:moveTo>
                  <a:cubicBezTo>
                    <a:pt x="3499" y="0"/>
                    <a:pt x="2484" y="337"/>
                    <a:pt x="1670" y="984"/>
                  </a:cubicBezTo>
                  <a:cubicBezTo>
                    <a:pt x="630" y="1866"/>
                    <a:pt x="0" y="3158"/>
                    <a:pt x="0" y="4544"/>
                  </a:cubicBezTo>
                  <a:cubicBezTo>
                    <a:pt x="0" y="5804"/>
                    <a:pt x="504" y="6970"/>
                    <a:pt x="1418" y="7852"/>
                  </a:cubicBezTo>
                  <a:lnTo>
                    <a:pt x="1418" y="11632"/>
                  </a:lnTo>
                  <a:cubicBezTo>
                    <a:pt x="1418" y="11821"/>
                    <a:pt x="1575" y="11979"/>
                    <a:pt x="1765" y="11979"/>
                  </a:cubicBezTo>
                  <a:lnTo>
                    <a:pt x="5986" y="11979"/>
                  </a:lnTo>
                  <a:cubicBezTo>
                    <a:pt x="6175" y="11979"/>
                    <a:pt x="6333" y="11821"/>
                    <a:pt x="6333" y="11632"/>
                  </a:cubicBezTo>
                  <a:lnTo>
                    <a:pt x="6333" y="10530"/>
                  </a:lnTo>
                  <a:lnTo>
                    <a:pt x="8097" y="10530"/>
                  </a:lnTo>
                  <a:cubicBezTo>
                    <a:pt x="8286" y="10530"/>
                    <a:pt x="8444" y="10372"/>
                    <a:pt x="8444" y="10183"/>
                  </a:cubicBezTo>
                  <a:lnTo>
                    <a:pt x="8444" y="8387"/>
                  </a:lnTo>
                  <a:lnTo>
                    <a:pt x="9042" y="8387"/>
                  </a:lnTo>
                  <a:cubicBezTo>
                    <a:pt x="9389" y="8387"/>
                    <a:pt x="9767" y="8198"/>
                    <a:pt x="9956" y="7883"/>
                  </a:cubicBezTo>
                  <a:cubicBezTo>
                    <a:pt x="10082" y="7568"/>
                    <a:pt x="10082" y="7190"/>
                    <a:pt x="9924" y="6875"/>
                  </a:cubicBezTo>
                  <a:lnTo>
                    <a:pt x="9042" y="5237"/>
                  </a:lnTo>
                  <a:cubicBezTo>
                    <a:pt x="9137" y="4701"/>
                    <a:pt x="9137" y="4134"/>
                    <a:pt x="9011" y="3599"/>
                  </a:cubicBezTo>
                  <a:cubicBezTo>
                    <a:pt x="8664" y="1866"/>
                    <a:pt x="7246" y="480"/>
                    <a:pt x="5545" y="102"/>
                  </a:cubicBezTo>
                  <a:cubicBezTo>
                    <a:pt x="5213" y="34"/>
                    <a:pt x="4878" y="0"/>
                    <a:pt x="45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" name="Google Shape;6898;p64">
              <a:extLst>
                <a:ext uri="{FF2B5EF4-FFF2-40B4-BE49-F238E27FC236}">
                  <a16:creationId xmlns:a16="http://schemas.microsoft.com/office/drawing/2014/main" id="{5F57A6FD-EE81-215F-8C6B-C5953BB5A7A6}"/>
                </a:ext>
              </a:extLst>
            </p:cNvPr>
            <p:cNvSpPr/>
            <p:nvPr/>
          </p:nvSpPr>
          <p:spPr>
            <a:xfrm>
              <a:off x="-48170050" y="3622650"/>
              <a:ext cx="100050" cy="103225"/>
            </a:xfrm>
            <a:custGeom>
              <a:avLst/>
              <a:gdLst/>
              <a:ahLst/>
              <a:cxnLst/>
              <a:rect l="l" t="t" r="r" b="b"/>
              <a:pathLst>
                <a:path w="4002" h="4129" extrusionOk="0">
                  <a:moveTo>
                    <a:pt x="1985" y="1009"/>
                  </a:moveTo>
                  <a:cubicBezTo>
                    <a:pt x="2584" y="1009"/>
                    <a:pt x="3057" y="1482"/>
                    <a:pt x="3057" y="2080"/>
                  </a:cubicBezTo>
                  <a:cubicBezTo>
                    <a:pt x="3057" y="2647"/>
                    <a:pt x="2584" y="3120"/>
                    <a:pt x="1985" y="3120"/>
                  </a:cubicBezTo>
                  <a:cubicBezTo>
                    <a:pt x="1418" y="3120"/>
                    <a:pt x="946" y="2647"/>
                    <a:pt x="946" y="2080"/>
                  </a:cubicBezTo>
                  <a:cubicBezTo>
                    <a:pt x="946" y="1482"/>
                    <a:pt x="1418" y="1009"/>
                    <a:pt x="1985" y="1009"/>
                  </a:cubicBezTo>
                  <a:close/>
                  <a:moveTo>
                    <a:pt x="1639" y="1"/>
                  </a:moveTo>
                  <a:lnTo>
                    <a:pt x="1639" y="127"/>
                  </a:lnTo>
                  <a:cubicBezTo>
                    <a:pt x="1639" y="284"/>
                    <a:pt x="1576" y="410"/>
                    <a:pt x="1418" y="442"/>
                  </a:cubicBezTo>
                  <a:cubicBezTo>
                    <a:pt x="1198" y="537"/>
                    <a:pt x="1009" y="631"/>
                    <a:pt x="851" y="757"/>
                  </a:cubicBezTo>
                  <a:cubicBezTo>
                    <a:pt x="770" y="818"/>
                    <a:pt x="689" y="853"/>
                    <a:pt x="607" y="853"/>
                  </a:cubicBezTo>
                  <a:cubicBezTo>
                    <a:pt x="562" y="853"/>
                    <a:pt x="518" y="842"/>
                    <a:pt x="473" y="820"/>
                  </a:cubicBezTo>
                  <a:lnTo>
                    <a:pt x="347" y="726"/>
                  </a:lnTo>
                  <a:lnTo>
                    <a:pt x="1" y="1324"/>
                  </a:lnTo>
                  <a:lnTo>
                    <a:pt x="127" y="1387"/>
                  </a:lnTo>
                  <a:cubicBezTo>
                    <a:pt x="221" y="1482"/>
                    <a:pt x="316" y="1639"/>
                    <a:pt x="253" y="1765"/>
                  </a:cubicBezTo>
                  <a:cubicBezTo>
                    <a:pt x="221" y="1986"/>
                    <a:pt x="221" y="2143"/>
                    <a:pt x="253" y="2395"/>
                  </a:cubicBezTo>
                  <a:cubicBezTo>
                    <a:pt x="316" y="2553"/>
                    <a:pt x="221" y="2647"/>
                    <a:pt x="127" y="2742"/>
                  </a:cubicBezTo>
                  <a:lnTo>
                    <a:pt x="1" y="2805"/>
                  </a:lnTo>
                  <a:lnTo>
                    <a:pt x="347" y="3403"/>
                  </a:lnTo>
                  <a:lnTo>
                    <a:pt x="473" y="3340"/>
                  </a:lnTo>
                  <a:cubicBezTo>
                    <a:pt x="532" y="3297"/>
                    <a:pt x="590" y="3273"/>
                    <a:pt x="649" y="3273"/>
                  </a:cubicBezTo>
                  <a:cubicBezTo>
                    <a:pt x="716" y="3273"/>
                    <a:pt x="784" y="3304"/>
                    <a:pt x="851" y="3372"/>
                  </a:cubicBezTo>
                  <a:cubicBezTo>
                    <a:pt x="1009" y="3529"/>
                    <a:pt x="1198" y="3592"/>
                    <a:pt x="1418" y="3687"/>
                  </a:cubicBezTo>
                  <a:cubicBezTo>
                    <a:pt x="1576" y="3718"/>
                    <a:pt x="1639" y="3876"/>
                    <a:pt x="1639" y="4002"/>
                  </a:cubicBezTo>
                  <a:lnTo>
                    <a:pt x="1639" y="4128"/>
                  </a:lnTo>
                  <a:lnTo>
                    <a:pt x="2364" y="4128"/>
                  </a:lnTo>
                  <a:lnTo>
                    <a:pt x="2364" y="4002"/>
                  </a:lnTo>
                  <a:cubicBezTo>
                    <a:pt x="2364" y="3845"/>
                    <a:pt x="2427" y="3718"/>
                    <a:pt x="2584" y="3687"/>
                  </a:cubicBezTo>
                  <a:cubicBezTo>
                    <a:pt x="2805" y="3592"/>
                    <a:pt x="2994" y="3498"/>
                    <a:pt x="3151" y="3372"/>
                  </a:cubicBezTo>
                  <a:cubicBezTo>
                    <a:pt x="3224" y="3317"/>
                    <a:pt x="3298" y="3283"/>
                    <a:pt x="3371" y="3283"/>
                  </a:cubicBezTo>
                  <a:cubicBezTo>
                    <a:pt x="3424" y="3283"/>
                    <a:pt x="3476" y="3301"/>
                    <a:pt x="3529" y="3340"/>
                  </a:cubicBezTo>
                  <a:lnTo>
                    <a:pt x="3655" y="3403"/>
                  </a:lnTo>
                  <a:lnTo>
                    <a:pt x="4002" y="2805"/>
                  </a:lnTo>
                  <a:lnTo>
                    <a:pt x="3876" y="2742"/>
                  </a:lnTo>
                  <a:cubicBezTo>
                    <a:pt x="3781" y="2647"/>
                    <a:pt x="3687" y="2490"/>
                    <a:pt x="3750" y="2395"/>
                  </a:cubicBezTo>
                  <a:cubicBezTo>
                    <a:pt x="3781" y="2143"/>
                    <a:pt x="3781" y="1986"/>
                    <a:pt x="3750" y="1765"/>
                  </a:cubicBezTo>
                  <a:cubicBezTo>
                    <a:pt x="3687" y="1608"/>
                    <a:pt x="3781" y="1482"/>
                    <a:pt x="3876" y="1387"/>
                  </a:cubicBezTo>
                  <a:lnTo>
                    <a:pt x="4002" y="1324"/>
                  </a:lnTo>
                  <a:lnTo>
                    <a:pt x="3655" y="726"/>
                  </a:lnTo>
                  <a:lnTo>
                    <a:pt x="3529" y="820"/>
                  </a:lnTo>
                  <a:cubicBezTo>
                    <a:pt x="3477" y="846"/>
                    <a:pt x="3425" y="861"/>
                    <a:pt x="3373" y="861"/>
                  </a:cubicBezTo>
                  <a:cubicBezTo>
                    <a:pt x="3299" y="861"/>
                    <a:pt x="3225" y="831"/>
                    <a:pt x="3151" y="757"/>
                  </a:cubicBezTo>
                  <a:cubicBezTo>
                    <a:pt x="2994" y="600"/>
                    <a:pt x="2805" y="537"/>
                    <a:pt x="2584" y="442"/>
                  </a:cubicBezTo>
                  <a:cubicBezTo>
                    <a:pt x="2427" y="410"/>
                    <a:pt x="2364" y="253"/>
                    <a:pt x="2364" y="127"/>
                  </a:cubicBezTo>
                  <a:lnTo>
                    <a:pt x="23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" name="Google Shape;6899;p64">
              <a:extLst>
                <a:ext uri="{FF2B5EF4-FFF2-40B4-BE49-F238E27FC236}">
                  <a16:creationId xmlns:a16="http://schemas.microsoft.com/office/drawing/2014/main" id="{1AC84A8C-8680-DAEE-604E-11834E50494C}"/>
                </a:ext>
              </a:extLst>
            </p:cNvPr>
            <p:cNvSpPr/>
            <p:nvPr/>
          </p:nvSpPr>
          <p:spPr>
            <a:xfrm>
              <a:off x="-48129100" y="36652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6" y="567"/>
                    <a:pt x="726" y="378"/>
                  </a:cubicBezTo>
                  <a:cubicBezTo>
                    <a:pt x="726" y="158"/>
                    <a:pt x="568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0000"/>
                </a:highlight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2E22D70-A5C7-E3EE-EAC8-5B9427788061}"/>
              </a:ext>
            </a:extLst>
          </p:cNvPr>
          <p:cNvSpPr txBox="1"/>
          <p:nvPr/>
        </p:nvSpPr>
        <p:spPr>
          <a:xfrm>
            <a:off x="542268" y="930266"/>
            <a:ext cx="345536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latin typeface="Albert Sans Medium" panose="020B0604020202020204" charset="0"/>
              </a:rPr>
              <a:t>Who Is Data analyst ?</a:t>
            </a:r>
            <a:endParaRPr lang="ar-EG" sz="1600" b="1" dirty="0">
              <a:latin typeface="Albert Sans Medium" panose="020B0604020202020204" charset="0"/>
            </a:endParaRPr>
          </a:p>
        </p:txBody>
      </p:sp>
      <p:pic>
        <p:nvPicPr>
          <p:cNvPr id="5" name="Picture 4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43BA4226-DA8D-2426-3164-776E6C015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111" y="4561806"/>
            <a:ext cx="449691" cy="452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44DAFE-458A-3830-25FC-B75551A70FBC}"/>
              </a:ext>
            </a:extLst>
          </p:cNvPr>
          <p:cNvSpPr txBox="1"/>
          <p:nvPr/>
        </p:nvSpPr>
        <p:spPr>
          <a:xfrm>
            <a:off x="578998" y="1307939"/>
            <a:ext cx="43395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Albert Sans Medium" panose="020B0604020202020204" charset="0"/>
              </a:rPr>
              <a:t>is the person who </a:t>
            </a:r>
            <a:r>
              <a:rPr lang="en-US" b="1" dirty="0">
                <a:latin typeface="Albert Sans Medium" panose="020B0604020202020204" charset="0"/>
              </a:rPr>
              <a:t>collects data, cleans it, analyzes it, and turns it into clear insights</a:t>
            </a:r>
            <a:r>
              <a:rPr lang="en-US" dirty="0">
                <a:latin typeface="Albert Sans Medium" panose="020B0604020202020204" charset="0"/>
              </a:rPr>
              <a:t> that help people and companies make better decisions.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A8FD7D-3359-E94D-8D79-0FAB23A44E2B}"/>
              </a:ext>
            </a:extLst>
          </p:cNvPr>
          <p:cNvSpPr txBox="1"/>
          <p:nvPr/>
        </p:nvSpPr>
        <p:spPr>
          <a:xfrm>
            <a:off x="559311" y="2260527"/>
            <a:ext cx="345536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latin typeface="Albert Sans Medium" panose="020B0604020202020204" charset="0"/>
              </a:rPr>
              <a:t>Types of Analysts ?</a:t>
            </a:r>
            <a:endParaRPr lang="ar-EG" sz="1600" b="1" dirty="0">
              <a:latin typeface="Albert Sans Medium" panose="020B060402020202020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E59AE0-907D-9C6B-E6AE-DB7C7CCB4C49}"/>
              </a:ext>
            </a:extLst>
          </p:cNvPr>
          <p:cNvSpPr txBox="1"/>
          <p:nvPr/>
        </p:nvSpPr>
        <p:spPr>
          <a:xfrm>
            <a:off x="264349" y="2652068"/>
            <a:ext cx="4635030" cy="170816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lbert Sans Medium" panose="020B0604020202020204" charset="0"/>
              </a:rPr>
              <a:t>Data Analyst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lbert Sans Medium" panose="020B0604020202020204" charset="0"/>
              </a:rPr>
              <a:t>Business Analyst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lbert Sans Medium" panose="020B0604020202020204" charset="0"/>
              </a:rPr>
              <a:t>BI Analyst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lbert Sans Medium" panose="020B0604020202020204" charset="0"/>
              </a:rPr>
              <a:t>Product Analyst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lbert Sans Medium" panose="020B0604020202020204" charset="0"/>
              </a:rPr>
              <a:t>Marketing Analyst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lbert Sans Medium" panose="020B0604020202020204" charset="0"/>
              </a:rPr>
              <a:t>Operations Analyst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lbert Sans Medium" panose="020B0604020202020204" charset="0"/>
              </a:rPr>
              <a:t>Data Scientist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lbert Sans Medium" panose="020B0604020202020204" charset="0"/>
              </a:rPr>
              <a:t>Data analytics Engineer</a:t>
            </a:r>
          </a:p>
        </p:txBody>
      </p:sp>
      <p:grpSp>
        <p:nvGrpSpPr>
          <p:cNvPr id="17" name="Google Shape;6936;p64">
            <a:extLst>
              <a:ext uri="{FF2B5EF4-FFF2-40B4-BE49-F238E27FC236}">
                <a16:creationId xmlns:a16="http://schemas.microsoft.com/office/drawing/2014/main" id="{DFD47EE7-EC70-F937-1CD5-CDDFC54068A4}"/>
              </a:ext>
            </a:extLst>
          </p:cNvPr>
          <p:cNvGrpSpPr/>
          <p:nvPr/>
        </p:nvGrpSpPr>
        <p:grpSpPr>
          <a:xfrm>
            <a:off x="255507" y="2320015"/>
            <a:ext cx="354311" cy="340622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18" name="Google Shape;6937;p64">
              <a:extLst>
                <a:ext uri="{FF2B5EF4-FFF2-40B4-BE49-F238E27FC236}">
                  <a16:creationId xmlns:a16="http://schemas.microsoft.com/office/drawing/2014/main" id="{78C9F4BF-F01D-93B4-FA1C-21A999018FA4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6938;p64">
              <a:extLst>
                <a:ext uri="{FF2B5EF4-FFF2-40B4-BE49-F238E27FC236}">
                  <a16:creationId xmlns:a16="http://schemas.microsoft.com/office/drawing/2014/main" id="{4A4FFA71-88C4-E6C1-FBFB-A576BF068291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6939;p64">
              <a:extLst>
                <a:ext uri="{FF2B5EF4-FFF2-40B4-BE49-F238E27FC236}">
                  <a16:creationId xmlns:a16="http://schemas.microsoft.com/office/drawing/2014/main" id="{B2BF8E11-181D-072C-A717-47265CFBC314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6940;p64">
              <a:extLst>
                <a:ext uri="{FF2B5EF4-FFF2-40B4-BE49-F238E27FC236}">
                  <a16:creationId xmlns:a16="http://schemas.microsoft.com/office/drawing/2014/main" id="{42330ED0-3423-D05F-8A2B-F778D86FC938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6941;p64">
              <a:extLst>
                <a:ext uri="{FF2B5EF4-FFF2-40B4-BE49-F238E27FC236}">
                  <a16:creationId xmlns:a16="http://schemas.microsoft.com/office/drawing/2014/main" id="{77CC984B-6C3C-BBFB-8590-A6A0C7FD69DC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942;p64">
              <a:extLst>
                <a:ext uri="{FF2B5EF4-FFF2-40B4-BE49-F238E27FC236}">
                  <a16:creationId xmlns:a16="http://schemas.microsoft.com/office/drawing/2014/main" id="{32D3AE49-EAF6-87E2-2584-D2729231A4F4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943;p64">
              <a:extLst>
                <a:ext uri="{FF2B5EF4-FFF2-40B4-BE49-F238E27FC236}">
                  <a16:creationId xmlns:a16="http://schemas.microsoft.com/office/drawing/2014/main" id="{2487AB42-B49B-14BF-67B1-429B4B0266DD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6944;p64">
              <a:extLst>
                <a:ext uri="{FF2B5EF4-FFF2-40B4-BE49-F238E27FC236}">
                  <a16:creationId xmlns:a16="http://schemas.microsoft.com/office/drawing/2014/main" id="{14CB83B7-D83D-B6A1-B0A3-1B9641D1239A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945;p64">
              <a:extLst>
                <a:ext uri="{FF2B5EF4-FFF2-40B4-BE49-F238E27FC236}">
                  <a16:creationId xmlns:a16="http://schemas.microsoft.com/office/drawing/2014/main" id="{059E6ACC-AADD-F4E2-D4B7-621D00DA8F0F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946;p64">
              <a:extLst>
                <a:ext uri="{FF2B5EF4-FFF2-40B4-BE49-F238E27FC236}">
                  <a16:creationId xmlns:a16="http://schemas.microsoft.com/office/drawing/2014/main" id="{E76533D3-16D5-8C45-4F72-A82599BCDDED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6947;p64">
              <a:extLst>
                <a:ext uri="{FF2B5EF4-FFF2-40B4-BE49-F238E27FC236}">
                  <a16:creationId xmlns:a16="http://schemas.microsoft.com/office/drawing/2014/main" id="{1B7F3ED6-D476-F587-60E9-B609BDEE1861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32" name="Picture 31" descr="A person and person looking at a magnifying glass">
            <a:extLst>
              <a:ext uri="{FF2B5EF4-FFF2-40B4-BE49-F238E27FC236}">
                <a16:creationId xmlns:a16="http://schemas.microsoft.com/office/drawing/2014/main" id="{FE808132-FF0C-9A3A-3AFD-2D9CAB511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4410" y="1087977"/>
            <a:ext cx="2967546" cy="296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659428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4" grpId="0"/>
      <p:bldP spid="6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"/>
          <p:cNvSpPr txBox="1">
            <a:spLocks noGrp="1"/>
          </p:cNvSpPr>
          <p:nvPr>
            <p:ph type="title"/>
          </p:nvPr>
        </p:nvSpPr>
        <p:spPr>
          <a:xfrm>
            <a:off x="720000" y="37594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Analyst Track</a:t>
            </a:r>
            <a:endParaRPr dirty="0"/>
          </a:p>
        </p:txBody>
      </p:sp>
      <p:sp>
        <p:nvSpPr>
          <p:cNvPr id="321" name="Google Shape;321;p29"/>
          <p:cNvSpPr txBox="1">
            <a:spLocks noGrp="1"/>
          </p:cNvSpPr>
          <p:nvPr>
            <p:ph type="title" idx="2"/>
          </p:nvPr>
        </p:nvSpPr>
        <p:spPr>
          <a:xfrm>
            <a:off x="1309588" y="1224891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22" name="Google Shape;322;p29"/>
          <p:cNvSpPr txBox="1">
            <a:spLocks noGrp="1"/>
          </p:cNvSpPr>
          <p:nvPr>
            <p:ph type="title" idx="3"/>
          </p:nvPr>
        </p:nvSpPr>
        <p:spPr>
          <a:xfrm>
            <a:off x="1309588" y="2902391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23" name="Google Shape;323;p29"/>
          <p:cNvSpPr txBox="1">
            <a:spLocks noGrp="1"/>
          </p:cNvSpPr>
          <p:nvPr>
            <p:ph type="title" idx="4"/>
          </p:nvPr>
        </p:nvSpPr>
        <p:spPr>
          <a:xfrm>
            <a:off x="4019004" y="123058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 dirty="0"/>
          </a:p>
        </p:txBody>
      </p:sp>
      <p:sp>
        <p:nvSpPr>
          <p:cNvPr id="324" name="Google Shape;324;p29"/>
          <p:cNvSpPr txBox="1">
            <a:spLocks noGrp="1"/>
          </p:cNvSpPr>
          <p:nvPr>
            <p:ph type="title" idx="5"/>
          </p:nvPr>
        </p:nvSpPr>
        <p:spPr>
          <a:xfrm>
            <a:off x="6525735" y="2875915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25" name="Google Shape;325;p29"/>
          <p:cNvSpPr txBox="1">
            <a:spLocks noGrp="1"/>
          </p:cNvSpPr>
          <p:nvPr>
            <p:ph type="title" idx="6"/>
          </p:nvPr>
        </p:nvSpPr>
        <p:spPr>
          <a:xfrm>
            <a:off x="6525735" y="1224891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27" name="Google Shape;327;p29"/>
          <p:cNvSpPr txBox="1">
            <a:spLocks noGrp="1"/>
          </p:cNvSpPr>
          <p:nvPr>
            <p:ph type="subTitle" idx="1"/>
          </p:nvPr>
        </p:nvSpPr>
        <p:spPr>
          <a:xfrm>
            <a:off x="533678" y="1786816"/>
            <a:ext cx="2305500" cy="5658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lbert Sans Medium" panose="020B0604020202020204" charset="0"/>
              </a:rPr>
              <a:t>Master Excel </a:t>
            </a:r>
            <a:endParaRPr dirty="0">
              <a:latin typeface="Albert Sans Medium" panose="020B0604020202020204" charset="0"/>
            </a:endParaRPr>
          </a:p>
        </p:txBody>
      </p:sp>
      <p:sp>
        <p:nvSpPr>
          <p:cNvPr id="328" name="Google Shape;328;p29"/>
          <p:cNvSpPr txBox="1">
            <a:spLocks noGrp="1"/>
          </p:cNvSpPr>
          <p:nvPr>
            <p:ph type="subTitle" idx="8"/>
          </p:nvPr>
        </p:nvSpPr>
        <p:spPr>
          <a:xfrm>
            <a:off x="3063391" y="1797591"/>
            <a:ext cx="2645926" cy="6459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lbert Sans Medium" panose="020B0604020202020204" charset="0"/>
              </a:rPr>
              <a:t>Data Visualization Tools</a:t>
            </a:r>
            <a:endParaRPr dirty="0">
              <a:latin typeface="Albert Sans Medium" panose="020B0604020202020204" charset="0"/>
            </a:endParaRPr>
          </a:p>
        </p:txBody>
      </p:sp>
      <p:sp>
        <p:nvSpPr>
          <p:cNvPr id="329" name="Google Shape;329;p29"/>
          <p:cNvSpPr txBox="1">
            <a:spLocks noGrp="1"/>
          </p:cNvSpPr>
          <p:nvPr>
            <p:ph type="subTitle" idx="9"/>
          </p:nvPr>
        </p:nvSpPr>
        <p:spPr>
          <a:xfrm>
            <a:off x="5843218" y="1777386"/>
            <a:ext cx="2099734" cy="4576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Albert Sans Medium" panose="020B0604020202020204" charset="0"/>
              </a:rPr>
              <a:t>Databases</a:t>
            </a:r>
            <a:endParaRPr sz="2000" dirty="0">
              <a:latin typeface="Albert Sans Medium" panose="020B0604020202020204" charset="0"/>
            </a:endParaRPr>
          </a:p>
        </p:txBody>
      </p:sp>
      <p:sp>
        <p:nvSpPr>
          <p:cNvPr id="4" name="Google Shape;328;p29">
            <a:extLst>
              <a:ext uri="{FF2B5EF4-FFF2-40B4-BE49-F238E27FC236}">
                <a16:creationId xmlns:a16="http://schemas.microsoft.com/office/drawing/2014/main" id="{8BF985C8-83AA-4409-46D1-B081FD578064}"/>
              </a:ext>
            </a:extLst>
          </p:cNvPr>
          <p:cNvSpPr txBox="1">
            <a:spLocks/>
          </p:cNvSpPr>
          <p:nvPr/>
        </p:nvSpPr>
        <p:spPr>
          <a:xfrm>
            <a:off x="421960" y="3528377"/>
            <a:ext cx="2528935" cy="64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18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indent="0"/>
            <a:r>
              <a:rPr lang="en-US" dirty="0">
                <a:latin typeface="Albert Sans Medium" panose="020B0604020202020204" charset="0"/>
              </a:rPr>
              <a:t>Python</a:t>
            </a:r>
          </a:p>
          <a:p>
            <a:pPr marL="0" indent="0"/>
            <a:r>
              <a:rPr lang="en-US" dirty="0">
                <a:latin typeface="Albert Sans Medium" panose="020B0604020202020204" charset="0"/>
              </a:rPr>
              <a:t> for Data Analysis</a:t>
            </a:r>
          </a:p>
        </p:txBody>
      </p:sp>
      <p:sp>
        <p:nvSpPr>
          <p:cNvPr id="7" name="Google Shape;324;p29">
            <a:extLst>
              <a:ext uri="{FF2B5EF4-FFF2-40B4-BE49-F238E27FC236}">
                <a16:creationId xmlns:a16="http://schemas.microsoft.com/office/drawing/2014/main" id="{89A7762B-E11F-FA8F-4987-1369BE1A4C75}"/>
              </a:ext>
            </a:extLst>
          </p:cNvPr>
          <p:cNvSpPr txBox="1">
            <a:spLocks/>
          </p:cNvSpPr>
          <p:nvPr/>
        </p:nvSpPr>
        <p:spPr>
          <a:xfrm>
            <a:off x="4019004" y="2880960"/>
            <a:ext cx="734700" cy="572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Sans"/>
              <a:buNone/>
              <a:defRPr sz="30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Sans"/>
              <a:buNone/>
              <a:defRPr sz="30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Sans"/>
              <a:buNone/>
              <a:defRPr sz="30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Sans"/>
              <a:buNone/>
              <a:defRPr sz="30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Sans"/>
              <a:buNone/>
              <a:defRPr sz="30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Sans"/>
              <a:buNone/>
              <a:defRPr sz="30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Sans"/>
              <a:buNone/>
              <a:defRPr sz="30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Sans"/>
              <a:buNone/>
              <a:defRPr sz="30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Sans"/>
              <a:buNone/>
              <a:defRPr sz="30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n"/>
              <a:t>05</a:t>
            </a:r>
            <a:endParaRPr lang="en" dirty="0"/>
          </a:p>
        </p:txBody>
      </p:sp>
      <p:sp>
        <p:nvSpPr>
          <p:cNvPr id="8" name="Google Shape;328;p29">
            <a:extLst>
              <a:ext uri="{FF2B5EF4-FFF2-40B4-BE49-F238E27FC236}">
                <a16:creationId xmlns:a16="http://schemas.microsoft.com/office/drawing/2014/main" id="{1AC79B16-64C7-AEEE-FF76-D28B41A8607A}"/>
              </a:ext>
            </a:extLst>
          </p:cNvPr>
          <p:cNvSpPr txBox="1">
            <a:spLocks/>
          </p:cNvSpPr>
          <p:nvPr/>
        </p:nvSpPr>
        <p:spPr>
          <a:xfrm>
            <a:off x="3123357" y="3528377"/>
            <a:ext cx="2528935" cy="64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18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indent="0"/>
            <a:r>
              <a:rPr lang="en-US" dirty="0">
                <a:latin typeface="Albert Sans Medium" panose="020B0604020202020204" charset="0"/>
              </a:rPr>
              <a:t>Data Warehouse &amp; ETL Pipelines</a:t>
            </a:r>
          </a:p>
        </p:txBody>
      </p:sp>
      <p:sp>
        <p:nvSpPr>
          <p:cNvPr id="9" name="Google Shape;328;p29">
            <a:extLst>
              <a:ext uri="{FF2B5EF4-FFF2-40B4-BE49-F238E27FC236}">
                <a16:creationId xmlns:a16="http://schemas.microsoft.com/office/drawing/2014/main" id="{D2153D0C-2017-4E03-5E0E-CED0FFBF1E44}"/>
              </a:ext>
            </a:extLst>
          </p:cNvPr>
          <p:cNvSpPr txBox="1">
            <a:spLocks/>
          </p:cNvSpPr>
          <p:nvPr/>
        </p:nvSpPr>
        <p:spPr>
          <a:xfrm>
            <a:off x="5628617" y="3523332"/>
            <a:ext cx="2528935" cy="64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18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None/>
              <a:defRPr sz="2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indent="0"/>
            <a:r>
              <a:rPr lang="en-US" dirty="0">
                <a:latin typeface="Albert Sans Medium" panose="020B0604020202020204" charset="0"/>
              </a:rPr>
              <a:t>Communication &amp; Presentation Skills</a:t>
            </a:r>
          </a:p>
        </p:txBody>
      </p:sp>
      <p:pic>
        <p:nvPicPr>
          <p:cNvPr id="10" name="Picture 9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B0B04B1F-A5B8-4C6C-D1B5-4474E4997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111" y="4561806"/>
            <a:ext cx="449691" cy="45240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00"/>
                                        <p:tgtEl>
                                          <p:spTgt spid="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00"/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6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2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2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4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200"/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600"/>
                            </p:stCondLst>
                            <p:childTnLst>
                              <p:par>
                                <p:cTn id="5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/>
      <p:bldP spid="321" grpId="0" animBg="1"/>
      <p:bldP spid="322" grpId="0" animBg="1"/>
      <p:bldP spid="323" grpId="0" animBg="1"/>
      <p:bldP spid="324" grpId="0" animBg="1"/>
      <p:bldP spid="325" grpId="0" animBg="1"/>
      <p:bldP spid="327" grpId="0" build="p"/>
      <p:bldP spid="328" grpId="0" build="p"/>
      <p:bldP spid="329" grpId="0" build="p"/>
      <p:bldP spid="4" grpId="0"/>
      <p:bldP spid="7" grpId="0" animBg="1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"/>
          <p:cNvSpPr txBox="1">
            <a:spLocks noGrp="1"/>
          </p:cNvSpPr>
          <p:nvPr>
            <p:ph type="title"/>
          </p:nvPr>
        </p:nvSpPr>
        <p:spPr>
          <a:xfrm>
            <a:off x="4222044" y="2169150"/>
            <a:ext cx="4492088" cy="1183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Albert Sans Medium" panose="020B0604020202020204" charset="0"/>
              </a:rPr>
              <a:t>Excel </a:t>
            </a:r>
            <a:br>
              <a:rPr lang="en-US" sz="3200" dirty="0">
                <a:latin typeface="Albert Sans Medium" panose="020B0604020202020204" charset="0"/>
              </a:rPr>
            </a:br>
            <a:r>
              <a:rPr lang="en-US" sz="3200" dirty="0">
                <a:latin typeface="Albert Sans Medium" panose="020B0604020202020204" charset="0"/>
              </a:rPr>
              <a:t>for Data Analyst</a:t>
            </a:r>
            <a:endParaRPr sz="3200" dirty="0">
              <a:latin typeface="Albert Sans Medium" panose="020B0604020202020204" charset="0"/>
            </a:endParaRPr>
          </a:p>
        </p:txBody>
      </p:sp>
      <p:sp>
        <p:nvSpPr>
          <p:cNvPr id="338" name="Google Shape;338;p30"/>
          <p:cNvSpPr txBox="1">
            <a:spLocks noGrp="1"/>
          </p:cNvSpPr>
          <p:nvPr>
            <p:ph type="title" idx="2"/>
          </p:nvPr>
        </p:nvSpPr>
        <p:spPr>
          <a:xfrm>
            <a:off x="4311488" y="1353750"/>
            <a:ext cx="4402644" cy="8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Session1</a:t>
            </a:r>
            <a:endParaRPr dirty="0"/>
          </a:p>
        </p:txBody>
      </p:sp>
      <p:pic>
        <p:nvPicPr>
          <p:cNvPr id="3" name="Picture 2" descr="A person standing in front of a computer&#10;&#10;AI-generated content may be incorrect.">
            <a:extLst>
              <a:ext uri="{FF2B5EF4-FFF2-40B4-BE49-F238E27FC236}">
                <a16:creationId xmlns:a16="http://schemas.microsoft.com/office/drawing/2014/main" id="{83C84BF0-6BE9-371A-D9C6-77EC49BDF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02" y="433567"/>
            <a:ext cx="3793067" cy="3793067"/>
          </a:xfrm>
          <a:prstGeom prst="rect">
            <a:avLst/>
          </a:prstGeom>
        </p:spPr>
      </p:pic>
      <p:pic>
        <p:nvPicPr>
          <p:cNvPr id="4" name="Picture 3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581BE854-BAAF-C87A-A1B6-C9B853514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57" y="162211"/>
            <a:ext cx="449691" cy="45240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" grpId="0"/>
      <p:bldP spid="3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/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1 : Excel</a:t>
            </a:r>
            <a:endParaRPr dirty="0"/>
          </a:p>
        </p:txBody>
      </p:sp>
      <p:sp>
        <p:nvSpPr>
          <p:cNvPr id="345" name="Google Shape;345;p31"/>
          <p:cNvSpPr txBox="1">
            <a:spLocks noGrp="1"/>
          </p:cNvSpPr>
          <p:nvPr>
            <p:ph type="body" idx="1"/>
          </p:nvPr>
        </p:nvSpPr>
        <p:spPr>
          <a:xfrm>
            <a:off x="563693" y="1510093"/>
            <a:ext cx="7665907" cy="29455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US" sz="1800" dirty="0"/>
              <a:t>Excel files with extensions : xlsx , xlsm , csv 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800" dirty="0"/>
              <a:t>Text Files , Json Files , Folder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800" dirty="0"/>
              <a:t>Databases : Like SQL Server , MySQL, Postgres SQL , Oracle SQL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800" dirty="0"/>
              <a:t>Clouds : Azure Cloud  , Microsoft Fabric (Lakehouse , DW , DataFlow)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800" dirty="0"/>
              <a:t>APIs or Web Links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800" dirty="0"/>
              <a:t>Online Services : Share point , OneDrive , Others</a:t>
            </a:r>
          </a:p>
          <a:p>
            <a:pPr marL="285750" indent="-285750" algn="just">
              <a:lnSpc>
                <a:spcPct val="150000"/>
              </a:lnSpc>
            </a:pPr>
            <a:endParaRPr lang="en-US" sz="1800" dirty="0"/>
          </a:p>
          <a:p>
            <a:pPr marL="285750" indent="-285750" algn="just">
              <a:lnSpc>
                <a:spcPct val="150000"/>
              </a:lnSpc>
            </a:pPr>
            <a:endParaRPr lang="en-US" sz="18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AAD7C-E2AC-40BF-8D51-3A2085C07C2E}"/>
              </a:ext>
            </a:extLst>
          </p:cNvPr>
          <p:cNvSpPr txBox="1"/>
          <p:nvPr/>
        </p:nvSpPr>
        <p:spPr>
          <a:xfrm>
            <a:off x="744105" y="1142313"/>
            <a:ext cx="325216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/>
              <a:t>Data Sources:</a:t>
            </a:r>
            <a:r>
              <a:rPr lang="en-US" sz="2400" dirty="0"/>
              <a:t> </a:t>
            </a:r>
            <a:endParaRPr lang="ar-EG" sz="1800" b="1" dirty="0"/>
          </a:p>
        </p:txBody>
      </p:sp>
      <p:grpSp>
        <p:nvGrpSpPr>
          <p:cNvPr id="11" name="Google Shape;6936;p64">
            <a:extLst>
              <a:ext uri="{FF2B5EF4-FFF2-40B4-BE49-F238E27FC236}">
                <a16:creationId xmlns:a16="http://schemas.microsoft.com/office/drawing/2014/main" id="{478AC500-3287-4E93-9901-88C7E1907DEE}"/>
              </a:ext>
            </a:extLst>
          </p:cNvPr>
          <p:cNvGrpSpPr/>
          <p:nvPr/>
        </p:nvGrpSpPr>
        <p:grpSpPr>
          <a:xfrm>
            <a:off x="389794" y="1236196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12" name="Google Shape;6937;p64">
              <a:extLst>
                <a:ext uri="{FF2B5EF4-FFF2-40B4-BE49-F238E27FC236}">
                  <a16:creationId xmlns:a16="http://schemas.microsoft.com/office/drawing/2014/main" id="{470C59FF-18CA-4171-91E1-2DE99FFD7F0B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6938;p64">
              <a:extLst>
                <a:ext uri="{FF2B5EF4-FFF2-40B4-BE49-F238E27FC236}">
                  <a16:creationId xmlns:a16="http://schemas.microsoft.com/office/drawing/2014/main" id="{FE97B96C-E427-45CC-80F2-2C2B426E3FA0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6939;p64">
              <a:extLst>
                <a:ext uri="{FF2B5EF4-FFF2-40B4-BE49-F238E27FC236}">
                  <a16:creationId xmlns:a16="http://schemas.microsoft.com/office/drawing/2014/main" id="{5709EADA-10A1-46FF-8053-D184D7DEE26F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6940;p64">
              <a:extLst>
                <a:ext uri="{FF2B5EF4-FFF2-40B4-BE49-F238E27FC236}">
                  <a16:creationId xmlns:a16="http://schemas.microsoft.com/office/drawing/2014/main" id="{C381EC31-173B-4CC8-9E0C-1527457A80C2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6941;p64">
              <a:extLst>
                <a:ext uri="{FF2B5EF4-FFF2-40B4-BE49-F238E27FC236}">
                  <a16:creationId xmlns:a16="http://schemas.microsoft.com/office/drawing/2014/main" id="{8209C6B7-E2CB-4CDD-A780-91C08D6F07BC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6942;p64">
              <a:extLst>
                <a:ext uri="{FF2B5EF4-FFF2-40B4-BE49-F238E27FC236}">
                  <a16:creationId xmlns:a16="http://schemas.microsoft.com/office/drawing/2014/main" id="{2939D954-F7C5-4258-AEED-7A7D15B3EDAF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6943;p64">
              <a:extLst>
                <a:ext uri="{FF2B5EF4-FFF2-40B4-BE49-F238E27FC236}">
                  <a16:creationId xmlns:a16="http://schemas.microsoft.com/office/drawing/2014/main" id="{3C4CB0E9-B19F-47F4-B9F6-5902EDF12C91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6944;p64">
              <a:extLst>
                <a:ext uri="{FF2B5EF4-FFF2-40B4-BE49-F238E27FC236}">
                  <a16:creationId xmlns:a16="http://schemas.microsoft.com/office/drawing/2014/main" id="{D8D37E79-0EF2-49E9-ADC5-A0B334F20369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6945;p64">
              <a:extLst>
                <a:ext uri="{FF2B5EF4-FFF2-40B4-BE49-F238E27FC236}">
                  <a16:creationId xmlns:a16="http://schemas.microsoft.com/office/drawing/2014/main" id="{0228D5B1-67AE-493B-A275-DA4A6BAB0F5E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6946;p64">
              <a:extLst>
                <a:ext uri="{FF2B5EF4-FFF2-40B4-BE49-F238E27FC236}">
                  <a16:creationId xmlns:a16="http://schemas.microsoft.com/office/drawing/2014/main" id="{3A764D91-8761-4CF0-8D07-34E37463829B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6947;p64">
              <a:extLst>
                <a:ext uri="{FF2B5EF4-FFF2-40B4-BE49-F238E27FC236}">
                  <a16:creationId xmlns:a16="http://schemas.microsoft.com/office/drawing/2014/main" id="{373FEDF4-73DE-4834-B706-44185FF38F38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" name="Picture 1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8E50DEB8-0B52-5B77-4825-03D0D2B7A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111" y="4561806"/>
            <a:ext cx="449691" cy="4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154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" fill="hold"/>
                                        <p:tgtEl>
                                          <p:spTgt spid="3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" fill="hold"/>
                                        <p:tgtEl>
                                          <p:spTgt spid="3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" fill="hold"/>
                                        <p:tgtEl>
                                          <p:spTgt spid="3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" fill="hold"/>
                                        <p:tgtEl>
                                          <p:spTgt spid="3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" fill="hold"/>
                                        <p:tgtEl>
                                          <p:spTgt spid="3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" fill="hold"/>
                                        <p:tgtEl>
                                          <p:spTgt spid="3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" fill="hold"/>
                                        <p:tgtEl>
                                          <p:spTgt spid="3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" fill="hold"/>
                                        <p:tgtEl>
                                          <p:spTgt spid="3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" fill="hold"/>
                                        <p:tgtEl>
                                          <p:spTgt spid="3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" fill="hold"/>
                                        <p:tgtEl>
                                          <p:spTgt spid="3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"/>
                            </p:stCondLst>
                            <p:childTnLst>
                              <p:par>
                                <p:cTn id="4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345" grpId="0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59D54549-8DB2-2D06-86B2-1A26D34A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B2742FA4-8B94-6AE1-E3C5-90BD36D786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1 : Excel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41CCF-D85E-5348-9B44-7BE2DA5C16C0}"/>
              </a:ext>
            </a:extLst>
          </p:cNvPr>
          <p:cNvSpPr txBox="1"/>
          <p:nvPr/>
        </p:nvSpPr>
        <p:spPr>
          <a:xfrm>
            <a:off x="752612" y="1083151"/>
            <a:ext cx="414714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>
                <a:latin typeface="Albert Sans Medium" panose="020B0604020202020204" charset="0"/>
              </a:rPr>
              <a:t>Power Query Editor</a:t>
            </a:r>
            <a:endParaRPr lang="ar-EG" sz="1800" b="1" dirty="0">
              <a:latin typeface="Albert Sans Medium" panose="020B0604020202020204" charset="0"/>
            </a:endParaRPr>
          </a:p>
        </p:txBody>
      </p:sp>
      <p:grpSp>
        <p:nvGrpSpPr>
          <p:cNvPr id="6" name="Google Shape;6936;p64">
            <a:extLst>
              <a:ext uri="{FF2B5EF4-FFF2-40B4-BE49-F238E27FC236}">
                <a16:creationId xmlns:a16="http://schemas.microsoft.com/office/drawing/2014/main" id="{E6D330A7-0008-D91E-A7D2-12FF614C1400}"/>
              </a:ext>
            </a:extLst>
          </p:cNvPr>
          <p:cNvGrpSpPr/>
          <p:nvPr/>
        </p:nvGrpSpPr>
        <p:grpSpPr>
          <a:xfrm>
            <a:off x="401083" y="1222359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7" name="Google Shape;6937;p64">
              <a:extLst>
                <a:ext uri="{FF2B5EF4-FFF2-40B4-BE49-F238E27FC236}">
                  <a16:creationId xmlns:a16="http://schemas.microsoft.com/office/drawing/2014/main" id="{6F98AA5C-27EA-1CC1-EBD3-BFC9A8A019F2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6938;p64">
              <a:extLst>
                <a:ext uri="{FF2B5EF4-FFF2-40B4-BE49-F238E27FC236}">
                  <a16:creationId xmlns:a16="http://schemas.microsoft.com/office/drawing/2014/main" id="{44A3521F-146E-5C87-F397-6980F2592A12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6939;p64">
              <a:extLst>
                <a:ext uri="{FF2B5EF4-FFF2-40B4-BE49-F238E27FC236}">
                  <a16:creationId xmlns:a16="http://schemas.microsoft.com/office/drawing/2014/main" id="{9F87D5CC-EDBB-3159-8B55-B8F9315217CC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6940;p64">
              <a:extLst>
                <a:ext uri="{FF2B5EF4-FFF2-40B4-BE49-F238E27FC236}">
                  <a16:creationId xmlns:a16="http://schemas.microsoft.com/office/drawing/2014/main" id="{3D684DA1-D0D5-1E83-8D78-038DB5053D39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941;p64">
              <a:extLst>
                <a:ext uri="{FF2B5EF4-FFF2-40B4-BE49-F238E27FC236}">
                  <a16:creationId xmlns:a16="http://schemas.microsoft.com/office/drawing/2014/main" id="{F5B171EC-2994-B9E9-A9D4-C241548AA683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942;p64">
              <a:extLst>
                <a:ext uri="{FF2B5EF4-FFF2-40B4-BE49-F238E27FC236}">
                  <a16:creationId xmlns:a16="http://schemas.microsoft.com/office/drawing/2014/main" id="{0294E670-B150-69FF-ECED-37481B00FA05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6943;p64">
              <a:extLst>
                <a:ext uri="{FF2B5EF4-FFF2-40B4-BE49-F238E27FC236}">
                  <a16:creationId xmlns:a16="http://schemas.microsoft.com/office/drawing/2014/main" id="{FE65812D-E3AD-2FC3-85C1-58ADAD4D88ED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944;p64">
              <a:extLst>
                <a:ext uri="{FF2B5EF4-FFF2-40B4-BE49-F238E27FC236}">
                  <a16:creationId xmlns:a16="http://schemas.microsoft.com/office/drawing/2014/main" id="{77DFDC16-5CB8-E50F-B6CB-EF9666627568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945;p64">
              <a:extLst>
                <a:ext uri="{FF2B5EF4-FFF2-40B4-BE49-F238E27FC236}">
                  <a16:creationId xmlns:a16="http://schemas.microsoft.com/office/drawing/2014/main" id="{A8FEC295-443F-9D31-87ED-155AD528BA62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6946;p64">
              <a:extLst>
                <a:ext uri="{FF2B5EF4-FFF2-40B4-BE49-F238E27FC236}">
                  <a16:creationId xmlns:a16="http://schemas.microsoft.com/office/drawing/2014/main" id="{ED83A3C8-AAAB-121F-7099-CF864B2F61D6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6947;p64">
              <a:extLst>
                <a:ext uri="{FF2B5EF4-FFF2-40B4-BE49-F238E27FC236}">
                  <a16:creationId xmlns:a16="http://schemas.microsoft.com/office/drawing/2014/main" id="{45D009D8-B35A-1433-780C-E329A0E2BA5B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" name="Google Shape;345;p31">
            <a:extLst>
              <a:ext uri="{FF2B5EF4-FFF2-40B4-BE49-F238E27FC236}">
                <a16:creationId xmlns:a16="http://schemas.microsoft.com/office/drawing/2014/main" id="{FEC00278-DFEA-1223-D038-5F1D0BEFB5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0266" y="1496256"/>
            <a:ext cx="8241640" cy="733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US" sz="1800" dirty="0"/>
              <a:t>Home Panel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800" dirty="0"/>
              <a:t>Transform Panel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800" dirty="0"/>
              <a:t>Add Column Panel 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800" dirty="0"/>
              <a:t>View Panel</a:t>
            </a:r>
          </a:p>
          <a:p>
            <a:pPr marL="285750" indent="-285750" algn="just">
              <a:lnSpc>
                <a:spcPct val="150000"/>
              </a:lnSpc>
            </a:pPr>
            <a:endParaRPr lang="en-US" sz="1800" dirty="0"/>
          </a:p>
          <a:p>
            <a:pPr marL="285750" indent="-285750" algn="just">
              <a:lnSpc>
                <a:spcPct val="150000"/>
              </a:lnSpc>
            </a:pPr>
            <a:endParaRPr lang="en-US" sz="1800" dirty="0">
              <a:solidFill>
                <a:schemeClr val="dk1"/>
              </a:solidFill>
            </a:endParaRPr>
          </a:p>
        </p:txBody>
      </p:sp>
      <p:pic>
        <p:nvPicPr>
          <p:cNvPr id="12" name="Picture 11" descr="A person standing in front of a computer screen&#10;&#10;AI-generated content may be incorrect.">
            <a:extLst>
              <a:ext uri="{FF2B5EF4-FFF2-40B4-BE49-F238E27FC236}">
                <a16:creationId xmlns:a16="http://schemas.microsoft.com/office/drawing/2014/main" id="{601B3A53-681C-EA6D-6E4A-84CEF511B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305" y="420316"/>
            <a:ext cx="4451313" cy="445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23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5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6BD64A28-B23B-09C5-F06A-6CF2D4606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B2C8B60A-0580-D272-F710-D5184229BE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1 : Excel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3584AA-7C26-E4CB-BC3F-ED2ED61A37B8}"/>
              </a:ext>
            </a:extLst>
          </p:cNvPr>
          <p:cNvSpPr txBox="1"/>
          <p:nvPr/>
        </p:nvSpPr>
        <p:spPr>
          <a:xfrm>
            <a:off x="744104" y="1142313"/>
            <a:ext cx="414714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>
                <a:latin typeface="Albert Sans Medium" panose="020B0604020202020204" charset="0"/>
              </a:rPr>
              <a:t>How to Import Data :</a:t>
            </a:r>
            <a:r>
              <a:rPr lang="en-US" sz="2400" dirty="0">
                <a:latin typeface="Albert Sans Medium" panose="020B0604020202020204" charset="0"/>
              </a:rPr>
              <a:t> </a:t>
            </a:r>
            <a:endParaRPr lang="ar-EG" sz="1800" b="1" dirty="0">
              <a:latin typeface="Albert Sans Medium" panose="020B0604020202020204" charset="0"/>
            </a:endParaRPr>
          </a:p>
        </p:txBody>
      </p:sp>
      <p:grpSp>
        <p:nvGrpSpPr>
          <p:cNvPr id="11" name="Google Shape;6936;p64">
            <a:extLst>
              <a:ext uri="{FF2B5EF4-FFF2-40B4-BE49-F238E27FC236}">
                <a16:creationId xmlns:a16="http://schemas.microsoft.com/office/drawing/2014/main" id="{A49D36D6-79B1-BF7A-87CF-D7C59622A8AF}"/>
              </a:ext>
            </a:extLst>
          </p:cNvPr>
          <p:cNvGrpSpPr/>
          <p:nvPr/>
        </p:nvGrpSpPr>
        <p:grpSpPr>
          <a:xfrm>
            <a:off x="389794" y="1236196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12" name="Google Shape;6937;p64">
              <a:extLst>
                <a:ext uri="{FF2B5EF4-FFF2-40B4-BE49-F238E27FC236}">
                  <a16:creationId xmlns:a16="http://schemas.microsoft.com/office/drawing/2014/main" id="{D8FF5EDD-35BA-DB95-0103-43BABB8F6121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6938;p64">
              <a:extLst>
                <a:ext uri="{FF2B5EF4-FFF2-40B4-BE49-F238E27FC236}">
                  <a16:creationId xmlns:a16="http://schemas.microsoft.com/office/drawing/2014/main" id="{0223D321-8FE9-5549-C67A-0AD29DDF9F4B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6939;p64">
              <a:extLst>
                <a:ext uri="{FF2B5EF4-FFF2-40B4-BE49-F238E27FC236}">
                  <a16:creationId xmlns:a16="http://schemas.microsoft.com/office/drawing/2014/main" id="{670AE1AC-451D-9A9B-B374-138B4C071641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6940;p64">
              <a:extLst>
                <a:ext uri="{FF2B5EF4-FFF2-40B4-BE49-F238E27FC236}">
                  <a16:creationId xmlns:a16="http://schemas.microsoft.com/office/drawing/2014/main" id="{51895913-77ED-3907-5CA6-2E1866FAF04A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6941;p64">
              <a:extLst>
                <a:ext uri="{FF2B5EF4-FFF2-40B4-BE49-F238E27FC236}">
                  <a16:creationId xmlns:a16="http://schemas.microsoft.com/office/drawing/2014/main" id="{E67DCA49-CF54-C5E1-7124-0A9C4AD1D183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6942;p64">
              <a:extLst>
                <a:ext uri="{FF2B5EF4-FFF2-40B4-BE49-F238E27FC236}">
                  <a16:creationId xmlns:a16="http://schemas.microsoft.com/office/drawing/2014/main" id="{ED9D92C6-FD43-BCF5-BFC8-271B8A8E4D7B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6943;p64">
              <a:extLst>
                <a:ext uri="{FF2B5EF4-FFF2-40B4-BE49-F238E27FC236}">
                  <a16:creationId xmlns:a16="http://schemas.microsoft.com/office/drawing/2014/main" id="{AB62D9FE-0691-D81A-CB0D-BB50BA8EBDE0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6944;p64">
              <a:extLst>
                <a:ext uri="{FF2B5EF4-FFF2-40B4-BE49-F238E27FC236}">
                  <a16:creationId xmlns:a16="http://schemas.microsoft.com/office/drawing/2014/main" id="{90741675-C5B4-F13D-E044-330E57350565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6945;p64">
              <a:extLst>
                <a:ext uri="{FF2B5EF4-FFF2-40B4-BE49-F238E27FC236}">
                  <a16:creationId xmlns:a16="http://schemas.microsoft.com/office/drawing/2014/main" id="{78E103DA-D8FA-4609-B252-3ECC503DBEF7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6946;p64">
              <a:extLst>
                <a:ext uri="{FF2B5EF4-FFF2-40B4-BE49-F238E27FC236}">
                  <a16:creationId xmlns:a16="http://schemas.microsoft.com/office/drawing/2014/main" id="{B830C614-6948-F4AB-9C0B-597C1BB27D42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6947;p64">
              <a:extLst>
                <a:ext uri="{FF2B5EF4-FFF2-40B4-BE49-F238E27FC236}">
                  <a16:creationId xmlns:a16="http://schemas.microsoft.com/office/drawing/2014/main" id="{957FF5F2-8DD7-2406-C705-E191256D842A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3" name="Google Shape;345;p31">
            <a:extLst>
              <a:ext uri="{FF2B5EF4-FFF2-40B4-BE49-F238E27FC236}">
                <a16:creationId xmlns:a16="http://schemas.microsoft.com/office/drawing/2014/main" id="{F4088DD5-635B-72BB-BAFD-230248A685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36406" y="1717909"/>
            <a:ext cx="8241640" cy="733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US" sz="1800" dirty="0"/>
              <a:t>Excel file : https://www.kaggle.com/datasets/jockeroika/ecommerce-data</a:t>
            </a:r>
          </a:p>
          <a:p>
            <a:pPr marL="285750" indent="-285750" algn="just">
              <a:lnSpc>
                <a:spcPct val="150000"/>
              </a:lnSpc>
            </a:pPr>
            <a:endParaRPr lang="en-US" sz="1800" dirty="0"/>
          </a:p>
          <a:p>
            <a:pPr marL="285750" indent="-285750" algn="just">
              <a:lnSpc>
                <a:spcPct val="150000"/>
              </a:lnSpc>
            </a:pPr>
            <a:endParaRPr lang="en-US" sz="1800" dirty="0">
              <a:solidFill>
                <a:schemeClr val="dk1"/>
              </a:solidFill>
            </a:endParaRPr>
          </a:p>
        </p:txBody>
      </p:sp>
      <p:sp>
        <p:nvSpPr>
          <p:cNvPr id="45" name="Google Shape;345;p31">
            <a:extLst>
              <a:ext uri="{FF2B5EF4-FFF2-40B4-BE49-F238E27FC236}">
                <a16:creationId xmlns:a16="http://schemas.microsoft.com/office/drawing/2014/main" id="{1DA81EDD-9A15-7103-4D06-3C747BD3E8FA}"/>
              </a:ext>
            </a:extLst>
          </p:cNvPr>
          <p:cNvSpPr txBox="1">
            <a:spLocks/>
          </p:cNvSpPr>
          <p:nvPr/>
        </p:nvSpPr>
        <p:spPr>
          <a:xfrm>
            <a:off x="451180" y="2389420"/>
            <a:ext cx="8241640" cy="733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 Medium"/>
              <a:buChar char="●"/>
              <a:defRPr sz="12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○"/>
              <a:defRPr sz="12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■"/>
              <a:defRPr sz="12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●"/>
              <a:defRPr sz="12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○"/>
              <a:defRPr sz="12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■"/>
              <a:defRPr sz="12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●"/>
              <a:defRPr sz="12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○"/>
              <a:defRPr sz="12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■"/>
              <a:defRPr sz="12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pPr marL="285750" indent="-285750" algn="just">
              <a:lnSpc>
                <a:spcPct val="150000"/>
              </a:lnSpc>
            </a:pPr>
            <a:r>
              <a:rPr lang="en-US" sz="1800" dirty="0"/>
              <a:t>API links : </a:t>
            </a:r>
            <a:r>
              <a:rPr lang="en-US" sz="1800" dirty="0">
                <a:hlinkClick r:id="rId3"/>
              </a:rPr>
              <a:t>https://stooq.com/q/d/l/?s=aapl.us&amp;i=d</a:t>
            </a:r>
            <a:endParaRPr lang="en-US" sz="1800" dirty="0"/>
          </a:p>
          <a:p>
            <a:pPr marL="742950" lvl="1" indent="-285750" algn="just">
              <a:lnSpc>
                <a:spcPct val="150000"/>
              </a:lnSpc>
            </a:pPr>
            <a:endParaRPr lang="en-US" sz="1800" dirty="0"/>
          </a:p>
          <a:p>
            <a:pPr marL="285750" indent="-285750" algn="just">
              <a:lnSpc>
                <a:spcPct val="150000"/>
              </a:lnSpc>
            </a:pPr>
            <a:endParaRPr lang="en-US" sz="1800" dirty="0"/>
          </a:p>
        </p:txBody>
      </p:sp>
      <p:sp>
        <p:nvSpPr>
          <p:cNvPr id="46" name="Google Shape;345;p31">
            <a:extLst>
              <a:ext uri="{FF2B5EF4-FFF2-40B4-BE49-F238E27FC236}">
                <a16:creationId xmlns:a16="http://schemas.microsoft.com/office/drawing/2014/main" id="{B3D80917-2E39-01F2-0BC8-162FC6CC94C3}"/>
              </a:ext>
            </a:extLst>
          </p:cNvPr>
          <p:cNvSpPr txBox="1">
            <a:spLocks/>
          </p:cNvSpPr>
          <p:nvPr/>
        </p:nvSpPr>
        <p:spPr>
          <a:xfrm>
            <a:off x="494205" y="3267936"/>
            <a:ext cx="8241640" cy="733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 Medium"/>
              <a:buChar char="●"/>
              <a:defRPr sz="12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○"/>
              <a:defRPr sz="12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■"/>
              <a:defRPr sz="12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●"/>
              <a:defRPr sz="12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○"/>
              <a:defRPr sz="12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■"/>
              <a:defRPr sz="12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●"/>
              <a:defRPr sz="12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○"/>
              <a:defRPr sz="12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■"/>
              <a:defRPr sz="12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dirty="0"/>
              <a:t>Let’s Do Some Cleaning for Data</a:t>
            </a:r>
          </a:p>
          <a:p>
            <a:pPr marL="742950" lvl="1" indent="-285750" algn="just">
              <a:lnSpc>
                <a:spcPct val="150000"/>
              </a:lnSpc>
            </a:pPr>
            <a:endParaRPr lang="en-US" sz="2400" dirty="0"/>
          </a:p>
          <a:p>
            <a:pPr marL="285750" indent="-285750" algn="just">
              <a:lnSpc>
                <a:spcPct val="150000"/>
              </a:lnSpc>
            </a:pPr>
            <a:endParaRPr lang="en-US" sz="2400" dirty="0"/>
          </a:p>
        </p:txBody>
      </p:sp>
      <p:pic>
        <p:nvPicPr>
          <p:cNvPr id="47" name="Picture 46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FE0C8ACB-2CE3-B548-080A-71085780A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1111" y="4561806"/>
            <a:ext cx="449691" cy="4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055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"/>
                            </p:stCondLst>
                            <p:childTnLst>
                              <p:par>
                                <p:cTn id="3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4" grpId="0"/>
      <p:bldP spid="43" grpId="0" build="p"/>
      <p:bldP spid="45" grpId="0"/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3EA1D606-A4B7-DEE5-8DB1-B31B5C5AA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CD47E227-C2D7-A5EC-D2E2-3BCA8E976E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1 : Excerise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C43B69-E65E-5056-3A4A-D5FE9B1878D1}"/>
              </a:ext>
            </a:extLst>
          </p:cNvPr>
          <p:cNvSpPr txBox="1"/>
          <p:nvPr/>
        </p:nvSpPr>
        <p:spPr>
          <a:xfrm>
            <a:off x="752612" y="1083151"/>
            <a:ext cx="627383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>
                <a:latin typeface="Albert Sans Medium" panose="020B0604020202020204" charset="0"/>
              </a:rPr>
              <a:t>Exercise 1 : </a:t>
            </a:r>
            <a:r>
              <a:rPr lang="en-US" sz="1800" dirty="0"/>
              <a:t>Customer Orders Cleaning &amp; Preparation</a:t>
            </a:r>
            <a:endParaRPr lang="ar-EG" sz="1800" b="1" dirty="0">
              <a:latin typeface="Albert Sans Medium" panose="020B0604020202020204" charset="0"/>
            </a:endParaRPr>
          </a:p>
        </p:txBody>
      </p:sp>
      <p:grpSp>
        <p:nvGrpSpPr>
          <p:cNvPr id="6" name="Google Shape;6936;p64">
            <a:extLst>
              <a:ext uri="{FF2B5EF4-FFF2-40B4-BE49-F238E27FC236}">
                <a16:creationId xmlns:a16="http://schemas.microsoft.com/office/drawing/2014/main" id="{83FBD662-86C0-8621-41FE-ED28F383E1CC}"/>
              </a:ext>
            </a:extLst>
          </p:cNvPr>
          <p:cNvGrpSpPr/>
          <p:nvPr/>
        </p:nvGrpSpPr>
        <p:grpSpPr>
          <a:xfrm>
            <a:off x="401083" y="1222359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7" name="Google Shape;6937;p64">
              <a:extLst>
                <a:ext uri="{FF2B5EF4-FFF2-40B4-BE49-F238E27FC236}">
                  <a16:creationId xmlns:a16="http://schemas.microsoft.com/office/drawing/2014/main" id="{ED70ADC7-E138-07FE-C998-24C1E078DD0E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6938;p64">
              <a:extLst>
                <a:ext uri="{FF2B5EF4-FFF2-40B4-BE49-F238E27FC236}">
                  <a16:creationId xmlns:a16="http://schemas.microsoft.com/office/drawing/2014/main" id="{766A97DF-7364-1A97-2CE9-C5727292BEE8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6939;p64">
              <a:extLst>
                <a:ext uri="{FF2B5EF4-FFF2-40B4-BE49-F238E27FC236}">
                  <a16:creationId xmlns:a16="http://schemas.microsoft.com/office/drawing/2014/main" id="{6576A2A5-68BA-E477-421E-FF2E32845177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6940;p64">
              <a:extLst>
                <a:ext uri="{FF2B5EF4-FFF2-40B4-BE49-F238E27FC236}">
                  <a16:creationId xmlns:a16="http://schemas.microsoft.com/office/drawing/2014/main" id="{C322A7AC-09AF-D807-5BAC-1E31BD93613D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941;p64">
              <a:extLst>
                <a:ext uri="{FF2B5EF4-FFF2-40B4-BE49-F238E27FC236}">
                  <a16:creationId xmlns:a16="http://schemas.microsoft.com/office/drawing/2014/main" id="{AD34CF3B-3E40-D80D-F5D9-7D578D6AE1BF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942;p64">
              <a:extLst>
                <a:ext uri="{FF2B5EF4-FFF2-40B4-BE49-F238E27FC236}">
                  <a16:creationId xmlns:a16="http://schemas.microsoft.com/office/drawing/2014/main" id="{122E6385-72F8-B0F3-FAC7-750BA182B678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6943;p64">
              <a:extLst>
                <a:ext uri="{FF2B5EF4-FFF2-40B4-BE49-F238E27FC236}">
                  <a16:creationId xmlns:a16="http://schemas.microsoft.com/office/drawing/2014/main" id="{CE42B419-C65E-D9D4-EB0A-084F2D4923D5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944;p64">
              <a:extLst>
                <a:ext uri="{FF2B5EF4-FFF2-40B4-BE49-F238E27FC236}">
                  <a16:creationId xmlns:a16="http://schemas.microsoft.com/office/drawing/2014/main" id="{53D8CD68-38D4-7FD0-9660-F49C01A01A5E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945;p64">
              <a:extLst>
                <a:ext uri="{FF2B5EF4-FFF2-40B4-BE49-F238E27FC236}">
                  <a16:creationId xmlns:a16="http://schemas.microsoft.com/office/drawing/2014/main" id="{6A0CE107-D0AD-95ED-0FF0-841D10714C30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6946;p64">
              <a:extLst>
                <a:ext uri="{FF2B5EF4-FFF2-40B4-BE49-F238E27FC236}">
                  <a16:creationId xmlns:a16="http://schemas.microsoft.com/office/drawing/2014/main" id="{0F21DAA1-25A3-7C8B-BE15-C4FD0ACCDB63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6947;p64">
              <a:extLst>
                <a:ext uri="{FF2B5EF4-FFF2-40B4-BE49-F238E27FC236}">
                  <a16:creationId xmlns:a16="http://schemas.microsoft.com/office/drawing/2014/main" id="{870FD881-0D60-D9FA-28B4-59FE1FF48943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DE04E-C18A-212C-58B2-70E15742F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867" y="1610112"/>
            <a:ext cx="6853651" cy="1767000"/>
          </a:xfrm>
        </p:spPr>
        <p:txBody>
          <a:bodyPr/>
          <a:lstStyle/>
          <a:p>
            <a:r>
              <a:rPr lang="en-US" sz="1600" dirty="0"/>
              <a:t>You work as a </a:t>
            </a:r>
            <a:r>
              <a:rPr lang="en-US" sz="1600" b="1" dirty="0"/>
              <a:t>Data Analyst</a:t>
            </a:r>
            <a:r>
              <a:rPr lang="en-US" sz="1600" dirty="0"/>
              <a:t> for an online store.</a:t>
            </a:r>
            <a:br>
              <a:rPr lang="en-US" sz="1600" dirty="0"/>
            </a:br>
            <a:r>
              <a:rPr lang="en-US" sz="1600" dirty="0"/>
              <a:t>The sales team sends you </a:t>
            </a:r>
            <a:r>
              <a:rPr lang="en-US" sz="1600" b="1" dirty="0"/>
              <a:t>raw customer orders data</a:t>
            </a:r>
            <a:r>
              <a:rPr lang="en-US" sz="1600" dirty="0"/>
              <a:t> exported from different systems.</a:t>
            </a:r>
          </a:p>
          <a:p>
            <a:pPr marL="139700" indent="0">
              <a:buNone/>
            </a:pPr>
            <a:endParaRPr lang="en-US" sz="1600" dirty="0"/>
          </a:p>
          <a:p>
            <a:r>
              <a:rPr lang="en-US" sz="1600" dirty="0"/>
              <a:t>The file is </a:t>
            </a:r>
            <a:r>
              <a:rPr lang="en-US" sz="1600" b="1" dirty="0"/>
              <a:t>messy</a:t>
            </a:r>
            <a:r>
              <a:rPr lang="en-US" sz="1600" dirty="0"/>
              <a:t> and </a:t>
            </a:r>
            <a:r>
              <a:rPr lang="en-US" sz="1600" b="1" dirty="0"/>
              <a:t>not ready for analysis</a:t>
            </a:r>
            <a:r>
              <a:rPr lang="en-US" sz="1600" dirty="0"/>
              <a:t>. (Download Ex 1 file)</a:t>
            </a:r>
          </a:p>
          <a:p>
            <a:pPr marL="139700" indent="0">
              <a:buNone/>
            </a:pPr>
            <a:endParaRPr lang="en-US" sz="1600" dirty="0"/>
          </a:p>
          <a:p>
            <a:r>
              <a:rPr lang="en-US" sz="1600" dirty="0"/>
              <a:t>Your task is to </a:t>
            </a:r>
            <a:r>
              <a:rPr lang="en-US" sz="1600" b="1" dirty="0"/>
              <a:t>use Power Query Editor to clean, transform, and prepare the data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043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B667DE2D-0618-B9A5-C0FA-BD84E3C9F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41D19614-CB27-2E3A-9CF1-D6DD778FC2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1 : Exercise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9FA628-599A-F598-4EB5-F53B75DAEB3C}"/>
              </a:ext>
            </a:extLst>
          </p:cNvPr>
          <p:cNvSpPr txBox="1"/>
          <p:nvPr/>
        </p:nvSpPr>
        <p:spPr>
          <a:xfrm>
            <a:off x="752612" y="1083151"/>
            <a:ext cx="627383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>
                <a:latin typeface="Albert Sans Medium" panose="020B0604020202020204" charset="0"/>
              </a:rPr>
              <a:t>Exercise 2 : c</a:t>
            </a:r>
            <a:r>
              <a:rPr lang="en-US" sz="1800" dirty="0">
                <a:latin typeface="Albert Sans Medium" panose="020B0604020202020204" charset="0"/>
              </a:rPr>
              <a:t>redit Card Transactions Analysis</a:t>
            </a:r>
            <a:endParaRPr lang="ar-EG" sz="1800" b="1" dirty="0">
              <a:latin typeface="Albert Sans Medium" panose="020B0604020202020204" charset="0"/>
            </a:endParaRPr>
          </a:p>
        </p:txBody>
      </p:sp>
      <p:grpSp>
        <p:nvGrpSpPr>
          <p:cNvPr id="6" name="Google Shape;6936;p64">
            <a:extLst>
              <a:ext uri="{FF2B5EF4-FFF2-40B4-BE49-F238E27FC236}">
                <a16:creationId xmlns:a16="http://schemas.microsoft.com/office/drawing/2014/main" id="{374D6476-3B83-7550-6BCD-1998D6A8DBAD}"/>
              </a:ext>
            </a:extLst>
          </p:cNvPr>
          <p:cNvGrpSpPr/>
          <p:nvPr/>
        </p:nvGrpSpPr>
        <p:grpSpPr>
          <a:xfrm>
            <a:off x="401083" y="1222359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7" name="Google Shape;6937;p64">
              <a:extLst>
                <a:ext uri="{FF2B5EF4-FFF2-40B4-BE49-F238E27FC236}">
                  <a16:creationId xmlns:a16="http://schemas.microsoft.com/office/drawing/2014/main" id="{DB28A2E5-597D-D868-34FF-3628698B5443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6938;p64">
              <a:extLst>
                <a:ext uri="{FF2B5EF4-FFF2-40B4-BE49-F238E27FC236}">
                  <a16:creationId xmlns:a16="http://schemas.microsoft.com/office/drawing/2014/main" id="{36BA298D-F87D-C63D-71E7-FE8A92023FE9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6939;p64">
              <a:extLst>
                <a:ext uri="{FF2B5EF4-FFF2-40B4-BE49-F238E27FC236}">
                  <a16:creationId xmlns:a16="http://schemas.microsoft.com/office/drawing/2014/main" id="{4FDE4902-40AD-23A8-695B-396755BF4C98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6940;p64">
              <a:extLst>
                <a:ext uri="{FF2B5EF4-FFF2-40B4-BE49-F238E27FC236}">
                  <a16:creationId xmlns:a16="http://schemas.microsoft.com/office/drawing/2014/main" id="{32B846C4-1702-4570-3FCB-49C5A66FE1BF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941;p64">
              <a:extLst>
                <a:ext uri="{FF2B5EF4-FFF2-40B4-BE49-F238E27FC236}">
                  <a16:creationId xmlns:a16="http://schemas.microsoft.com/office/drawing/2014/main" id="{44FDCC9B-F4A0-A786-1D2A-12877B0F14AC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942;p64">
              <a:extLst>
                <a:ext uri="{FF2B5EF4-FFF2-40B4-BE49-F238E27FC236}">
                  <a16:creationId xmlns:a16="http://schemas.microsoft.com/office/drawing/2014/main" id="{4A57AD34-1DF7-461C-49D1-067DE9D4BA1C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6943;p64">
              <a:extLst>
                <a:ext uri="{FF2B5EF4-FFF2-40B4-BE49-F238E27FC236}">
                  <a16:creationId xmlns:a16="http://schemas.microsoft.com/office/drawing/2014/main" id="{1B1780FA-E16E-04B4-D1AB-40E65F486EBB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944;p64">
              <a:extLst>
                <a:ext uri="{FF2B5EF4-FFF2-40B4-BE49-F238E27FC236}">
                  <a16:creationId xmlns:a16="http://schemas.microsoft.com/office/drawing/2014/main" id="{943C963A-F088-F9D6-7D13-066E145CE518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945;p64">
              <a:extLst>
                <a:ext uri="{FF2B5EF4-FFF2-40B4-BE49-F238E27FC236}">
                  <a16:creationId xmlns:a16="http://schemas.microsoft.com/office/drawing/2014/main" id="{1BCAB931-8A6E-F910-C7C3-2B052F722E6B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6946;p64">
              <a:extLst>
                <a:ext uri="{FF2B5EF4-FFF2-40B4-BE49-F238E27FC236}">
                  <a16:creationId xmlns:a16="http://schemas.microsoft.com/office/drawing/2014/main" id="{D1716911-04BF-702E-C29A-3310B734314F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6947;p64">
              <a:extLst>
                <a:ext uri="{FF2B5EF4-FFF2-40B4-BE49-F238E27FC236}">
                  <a16:creationId xmlns:a16="http://schemas.microsoft.com/office/drawing/2014/main" id="{CFD52CF8-B337-BC62-BC08-E887FD95B24D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31B79-A8D6-1AD7-E7DE-F7B1F1F49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867" y="1610112"/>
            <a:ext cx="7825911" cy="1767000"/>
          </a:xfrm>
        </p:spPr>
        <p:txBody>
          <a:bodyPr/>
          <a:lstStyle/>
          <a:p>
            <a:r>
              <a:rPr lang="en-US" sz="1600" dirty="0"/>
              <a:t>You are working as a </a:t>
            </a:r>
            <a:r>
              <a:rPr lang="en-US" sz="1600" b="1" dirty="0"/>
              <a:t>Data Analyst in a Bank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The bank stores data in </a:t>
            </a:r>
            <a:r>
              <a:rPr lang="en-US" sz="1600" b="1" dirty="0"/>
              <a:t>separate systems</a:t>
            </a:r>
            <a:r>
              <a:rPr lang="en-US" sz="1600" dirty="0"/>
              <a:t>, so customer, card, transaction, and fraud data are in </a:t>
            </a:r>
            <a:r>
              <a:rPr lang="en-US" sz="1600" b="1" dirty="0"/>
              <a:t>different tables</a:t>
            </a:r>
            <a:r>
              <a:rPr lang="en-US" sz="1600" dirty="0"/>
              <a:t>.</a:t>
            </a:r>
          </a:p>
          <a:p>
            <a:r>
              <a:rPr lang="en-US" sz="1600" dirty="0"/>
              <a:t>Load Data of ( Ex 2 ) !</a:t>
            </a:r>
          </a:p>
          <a:p>
            <a:pPr marL="139700" indent="0">
              <a:buNone/>
            </a:pPr>
            <a:endParaRPr lang="en-US" sz="1600" dirty="0"/>
          </a:p>
          <a:p>
            <a:pPr marL="139700" indent="0">
              <a:buNone/>
            </a:pPr>
            <a:r>
              <a:rPr lang="en-US" sz="1600" dirty="0"/>
              <a:t>Management wants a </a:t>
            </a:r>
            <a:r>
              <a:rPr lang="en-US" sz="1600" b="1" dirty="0"/>
              <a:t>single, clean dataset</a:t>
            </a:r>
            <a:r>
              <a:rPr lang="en-US" sz="1600" dirty="0"/>
              <a:t> to:</a:t>
            </a:r>
          </a:p>
          <a:p>
            <a:r>
              <a:rPr lang="en-US" sz="1600" dirty="0"/>
              <a:t>Understand customer spending</a:t>
            </a:r>
          </a:p>
          <a:p>
            <a:r>
              <a:rPr lang="en-US" sz="1600" dirty="0"/>
              <a:t>Identify fraud impact</a:t>
            </a:r>
          </a:p>
          <a:p>
            <a:r>
              <a:rPr lang="en-US" sz="1600" dirty="0"/>
              <a:t>Analyze transactions by customer segment</a:t>
            </a:r>
          </a:p>
          <a:p>
            <a:pPr marL="139700" indent="0">
              <a:buNone/>
            </a:pPr>
            <a:endParaRPr lang="en-US" sz="1600" dirty="0"/>
          </a:p>
          <a:p>
            <a:pPr marL="139700" indent="0">
              <a:buNone/>
            </a:pPr>
            <a:r>
              <a:rPr lang="en-US" sz="1600" dirty="0"/>
              <a:t>Your job is to </a:t>
            </a:r>
            <a:r>
              <a:rPr lang="en-US" sz="1600" b="1" dirty="0"/>
              <a:t>combine and transform the data using Power Query</a:t>
            </a:r>
            <a:r>
              <a:rPr lang="en-US" sz="1600" dirty="0"/>
              <a:t>.</a:t>
            </a:r>
          </a:p>
          <a:p>
            <a:pPr marL="13970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24617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F54BA77F-C426-2686-7815-3B63F2EB1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422BF586-5465-43EC-EB8C-70422E5F53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1 : Exercise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45156-0C78-51D6-A953-F72C73CEAF24}"/>
              </a:ext>
            </a:extLst>
          </p:cNvPr>
          <p:cNvSpPr txBox="1"/>
          <p:nvPr/>
        </p:nvSpPr>
        <p:spPr>
          <a:xfrm>
            <a:off x="752612" y="1083151"/>
            <a:ext cx="627383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>
                <a:latin typeface="Albert Sans Medium" panose="020B0604020202020204" charset="0"/>
              </a:rPr>
              <a:t>Exercise 3 : </a:t>
            </a:r>
            <a:r>
              <a:rPr lang="en-US" sz="1800" dirty="0">
                <a:latin typeface="Albert Sans Medium" panose="020B0604020202020204" charset="0"/>
              </a:rPr>
              <a:t>Cafe Sales Data Cleaning &amp; Preparation</a:t>
            </a:r>
            <a:endParaRPr lang="ar-EG" sz="1800" b="1" dirty="0">
              <a:latin typeface="Albert Sans Medium" panose="020B0604020202020204" charset="0"/>
            </a:endParaRPr>
          </a:p>
        </p:txBody>
      </p:sp>
      <p:grpSp>
        <p:nvGrpSpPr>
          <p:cNvPr id="6" name="Google Shape;6936;p64">
            <a:extLst>
              <a:ext uri="{FF2B5EF4-FFF2-40B4-BE49-F238E27FC236}">
                <a16:creationId xmlns:a16="http://schemas.microsoft.com/office/drawing/2014/main" id="{24B03E09-B1C0-6FE1-1973-6807A7206FE2}"/>
              </a:ext>
            </a:extLst>
          </p:cNvPr>
          <p:cNvGrpSpPr/>
          <p:nvPr/>
        </p:nvGrpSpPr>
        <p:grpSpPr>
          <a:xfrm>
            <a:off x="401083" y="1222359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7" name="Google Shape;6937;p64">
              <a:extLst>
                <a:ext uri="{FF2B5EF4-FFF2-40B4-BE49-F238E27FC236}">
                  <a16:creationId xmlns:a16="http://schemas.microsoft.com/office/drawing/2014/main" id="{CD57A9B0-AB78-0698-A699-069DCF33DB24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6938;p64">
              <a:extLst>
                <a:ext uri="{FF2B5EF4-FFF2-40B4-BE49-F238E27FC236}">
                  <a16:creationId xmlns:a16="http://schemas.microsoft.com/office/drawing/2014/main" id="{DC8CBA9D-9E5D-4E14-09A3-F0337AF1C303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6939;p64">
              <a:extLst>
                <a:ext uri="{FF2B5EF4-FFF2-40B4-BE49-F238E27FC236}">
                  <a16:creationId xmlns:a16="http://schemas.microsoft.com/office/drawing/2014/main" id="{3313902D-83C1-C379-D640-50629D2C2EB6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6940;p64">
              <a:extLst>
                <a:ext uri="{FF2B5EF4-FFF2-40B4-BE49-F238E27FC236}">
                  <a16:creationId xmlns:a16="http://schemas.microsoft.com/office/drawing/2014/main" id="{A3151242-D2B7-E872-9099-40DFFDE702C8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941;p64">
              <a:extLst>
                <a:ext uri="{FF2B5EF4-FFF2-40B4-BE49-F238E27FC236}">
                  <a16:creationId xmlns:a16="http://schemas.microsoft.com/office/drawing/2014/main" id="{60F32D36-04C6-D6C4-BA71-639B99861D6C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942;p64">
              <a:extLst>
                <a:ext uri="{FF2B5EF4-FFF2-40B4-BE49-F238E27FC236}">
                  <a16:creationId xmlns:a16="http://schemas.microsoft.com/office/drawing/2014/main" id="{11B27911-C3E8-29B9-7E5E-44FF6FC418AE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6943;p64">
              <a:extLst>
                <a:ext uri="{FF2B5EF4-FFF2-40B4-BE49-F238E27FC236}">
                  <a16:creationId xmlns:a16="http://schemas.microsoft.com/office/drawing/2014/main" id="{A02E1DF6-4C97-2F9C-6E26-B2A70D84538A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944;p64">
              <a:extLst>
                <a:ext uri="{FF2B5EF4-FFF2-40B4-BE49-F238E27FC236}">
                  <a16:creationId xmlns:a16="http://schemas.microsoft.com/office/drawing/2014/main" id="{CF264DD1-55D3-ABD6-6FC6-21B387AADBFB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945;p64">
              <a:extLst>
                <a:ext uri="{FF2B5EF4-FFF2-40B4-BE49-F238E27FC236}">
                  <a16:creationId xmlns:a16="http://schemas.microsoft.com/office/drawing/2014/main" id="{E74EC372-CCE0-FF68-8863-0ECCC707942A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6946;p64">
              <a:extLst>
                <a:ext uri="{FF2B5EF4-FFF2-40B4-BE49-F238E27FC236}">
                  <a16:creationId xmlns:a16="http://schemas.microsoft.com/office/drawing/2014/main" id="{63B3F722-97C8-6562-2948-F0ACE6A520A7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6947;p64">
              <a:extLst>
                <a:ext uri="{FF2B5EF4-FFF2-40B4-BE49-F238E27FC236}">
                  <a16:creationId xmlns:a16="http://schemas.microsoft.com/office/drawing/2014/main" id="{4B84D7B7-11D3-2E93-2895-0DCA66ADA941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7D174-30DC-1D73-885C-AB4F1BC2F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867" y="1610111"/>
            <a:ext cx="7769466" cy="2311029"/>
          </a:xfrm>
        </p:spPr>
        <p:txBody>
          <a:bodyPr/>
          <a:lstStyle/>
          <a:p>
            <a:r>
              <a:rPr lang="en-US" sz="1600" dirty="0"/>
              <a:t>You are a </a:t>
            </a:r>
            <a:r>
              <a:rPr lang="en-US" sz="1600" b="1" dirty="0"/>
              <a:t>Data Analyst</a:t>
            </a:r>
            <a:r>
              <a:rPr lang="en-US" sz="1600" dirty="0"/>
              <a:t> working for a </a:t>
            </a:r>
            <a:r>
              <a:rPr lang="en-US" sz="1600" b="1" dirty="0"/>
              <a:t>cafe chain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Sales data is collected from different cashiers and systems, resulting in </a:t>
            </a:r>
            <a:r>
              <a:rPr lang="en-US" sz="1600" b="1" dirty="0"/>
              <a:t>dirty and inconsistent data</a:t>
            </a:r>
            <a:r>
              <a:rPr lang="en-US" sz="1600" dirty="0"/>
              <a:t>.</a:t>
            </a:r>
          </a:p>
          <a:p>
            <a:pPr marL="139700" indent="0">
              <a:buNone/>
            </a:pPr>
            <a:r>
              <a:rPr lang="en-US" sz="1600" dirty="0"/>
              <a:t>- Load dataset from (Ex 3) file</a:t>
            </a:r>
          </a:p>
          <a:p>
            <a:pPr marL="139700" indent="0">
              <a:buNone/>
            </a:pPr>
            <a:endParaRPr lang="en-US" sz="1600" dirty="0"/>
          </a:p>
          <a:p>
            <a:pPr marL="139700" indent="0">
              <a:buNone/>
            </a:pPr>
            <a:r>
              <a:rPr lang="en-US" sz="1600" dirty="0"/>
              <a:t>Management wants </a:t>
            </a:r>
            <a:r>
              <a:rPr lang="en-US" sz="1600" b="1" dirty="0"/>
              <a:t>clean and reliable sales data</a:t>
            </a:r>
            <a:r>
              <a:rPr lang="en-US" sz="1600" dirty="0"/>
              <a:t> to:</a:t>
            </a:r>
          </a:p>
          <a:p>
            <a:r>
              <a:rPr lang="en-US" sz="1600" dirty="0"/>
              <a:t>Analyze total revenue</a:t>
            </a:r>
          </a:p>
          <a:p>
            <a:r>
              <a:rPr lang="en-US" sz="1600" dirty="0"/>
              <a:t>Understand best-selling items</a:t>
            </a:r>
          </a:p>
          <a:p>
            <a:r>
              <a:rPr lang="en-US" sz="1600" dirty="0"/>
              <a:t>Compare payment methods and locations</a:t>
            </a:r>
          </a:p>
          <a:p>
            <a:pPr marL="139700" indent="0">
              <a:buNone/>
            </a:pPr>
            <a:endParaRPr lang="en-US" sz="1600" dirty="0"/>
          </a:p>
          <a:p>
            <a:pPr marL="139700" indent="0">
              <a:buNone/>
            </a:pPr>
            <a:r>
              <a:rPr lang="en-US" sz="1600" dirty="0"/>
              <a:t>Your task is to </a:t>
            </a:r>
            <a:r>
              <a:rPr lang="en-US" sz="1600" b="1" dirty="0"/>
              <a:t>clean and prepare the data using Power Query Editor</a:t>
            </a:r>
            <a:r>
              <a:rPr lang="en-US" sz="1600" dirty="0"/>
              <a:t>.</a:t>
            </a:r>
          </a:p>
          <a:p>
            <a:pPr marL="13970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0514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"/>
          <p:cNvSpPr txBox="1">
            <a:spLocks noGrp="1"/>
          </p:cNvSpPr>
          <p:nvPr>
            <p:ph type="title"/>
          </p:nvPr>
        </p:nvSpPr>
        <p:spPr>
          <a:xfrm>
            <a:off x="4233022" y="2330101"/>
            <a:ext cx="4559575" cy="8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Excel Measures &amp; Formats</a:t>
            </a:r>
          </a:p>
        </p:txBody>
      </p:sp>
      <p:sp>
        <p:nvSpPr>
          <p:cNvPr id="338" name="Google Shape;338;p30"/>
          <p:cNvSpPr txBox="1">
            <a:spLocks noGrp="1"/>
          </p:cNvSpPr>
          <p:nvPr>
            <p:ph type="title" idx="2"/>
          </p:nvPr>
        </p:nvSpPr>
        <p:spPr>
          <a:xfrm>
            <a:off x="5834269" y="1514701"/>
            <a:ext cx="1130575" cy="8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443BAA-2497-410D-ACE4-88FBFF0F5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02" y="288852"/>
            <a:ext cx="4082498" cy="408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51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" grpId="0"/>
      <p:bldP spid="33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887BF984-C983-EB97-6552-73D99DA02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F4A5DB5C-A1F4-6286-9430-B78EB8C793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1 : Excel Format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DF780D-9B41-EBAF-49AE-0F8E4C42E3B6}"/>
              </a:ext>
            </a:extLst>
          </p:cNvPr>
          <p:cNvSpPr txBox="1"/>
          <p:nvPr/>
        </p:nvSpPr>
        <p:spPr>
          <a:xfrm>
            <a:off x="741425" y="1096441"/>
            <a:ext cx="414714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>
                <a:latin typeface="Albert Sans Medium" panose="020B0604020202020204" charset="0"/>
              </a:rPr>
              <a:t>Home Panel : Excel formats</a:t>
            </a:r>
            <a:endParaRPr lang="ar-EG" sz="1800" b="1" dirty="0">
              <a:latin typeface="Albert Sans Medium" panose="020B0604020202020204" charset="0"/>
            </a:endParaRPr>
          </a:p>
        </p:txBody>
      </p:sp>
      <p:grpSp>
        <p:nvGrpSpPr>
          <p:cNvPr id="6" name="Google Shape;6936;p64">
            <a:extLst>
              <a:ext uri="{FF2B5EF4-FFF2-40B4-BE49-F238E27FC236}">
                <a16:creationId xmlns:a16="http://schemas.microsoft.com/office/drawing/2014/main" id="{098F41A9-E9AC-28DC-BD27-490EBFFEAA6B}"/>
              </a:ext>
            </a:extLst>
          </p:cNvPr>
          <p:cNvGrpSpPr/>
          <p:nvPr/>
        </p:nvGrpSpPr>
        <p:grpSpPr>
          <a:xfrm>
            <a:off x="401083" y="1222359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7" name="Google Shape;6937;p64">
              <a:extLst>
                <a:ext uri="{FF2B5EF4-FFF2-40B4-BE49-F238E27FC236}">
                  <a16:creationId xmlns:a16="http://schemas.microsoft.com/office/drawing/2014/main" id="{153D117D-FD6A-F676-BF78-598B45B3F142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6938;p64">
              <a:extLst>
                <a:ext uri="{FF2B5EF4-FFF2-40B4-BE49-F238E27FC236}">
                  <a16:creationId xmlns:a16="http://schemas.microsoft.com/office/drawing/2014/main" id="{2056D9D4-0BB7-85A0-24D6-B001E0B5ADDE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6939;p64">
              <a:extLst>
                <a:ext uri="{FF2B5EF4-FFF2-40B4-BE49-F238E27FC236}">
                  <a16:creationId xmlns:a16="http://schemas.microsoft.com/office/drawing/2014/main" id="{54CB862A-296B-6E6B-3FF3-718297CC9427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6940;p64">
              <a:extLst>
                <a:ext uri="{FF2B5EF4-FFF2-40B4-BE49-F238E27FC236}">
                  <a16:creationId xmlns:a16="http://schemas.microsoft.com/office/drawing/2014/main" id="{19D78C38-5810-654B-C66D-E213409EE481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941;p64">
              <a:extLst>
                <a:ext uri="{FF2B5EF4-FFF2-40B4-BE49-F238E27FC236}">
                  <a16:creationId xmlns:a16="http://schemas.microsoft.com/office/drawing/2014/main" id="{54DCBA48-DF14-0D03-2B0E-E54D9F6C1B83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942;p64">
              <a:extLst>
                <a:ext uri="{FF2B5EF4-FFF2-40B4-BE49-F238E27FC236}">
                  <a16:creationId xmlns:a16="http://schemas.microsoft.com/office/drawing/2014/main" id="{1C379926-2EE7-172C-505F-F514E07C82CF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6943;p64">
              <a:extLst>
                <a:ext uri="{FF2B5EF4-FFF2-40B4-BE49-F238E27FC236}">
                  <a16:creationId xmlns:a16="http://schemas.microsoft.com/office/drawing/2014/main" id="{94731D58-6C45-ECDF-7444-38B96AF2370A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944;p64">
              <a:extLst>
                <a:ext uri="{FF2B5EF4-FFF2-40B4-BE49-F238E27FC236}">
                  <a16:creationId xmlns:a16="http://schemas.microsoft.com/office/drawing/2014/main" id="{F1AB0E82-C7D9-A884-407B-2E92DD3973E1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945;p64">
              <a:extLst>
                <a:ext uri="{FF2B5EF4-FFF2-40B4-BE49-F238E27FC236}">
                  <a16:creationId xmlns:a16="http://schemas.microsoft.com/office/drawing/2014/main" id="{E5C95038-9F6D-2E67-87A9-BFD8FB0B62B4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6946;p64">
              <a:extLst>
                <a:ext uri="{FF2B5EF4-FFF2-40B4-BE49-F238E27FC236}">
                  <a16:creationId xmlns:a16="http://schemas.microsoft.com/office/drawing/2014/main" id="{58545AAD-0C8B-EC3A-96AB-14A24AB431AF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6947;p64">
              <a:extLst>
                <a:ext uri="{FF2B5EF4-FFF2-40B4-BE49-F238E27FC236}">
                  <a16:creationId xmlns:a16="http://schemas.microsoft.com/office/drawing/2014/main" id="{4F8129BA-E697-655C-C3AA-3476E48A6AB9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" name="Google Shape;345;p31">
            <a:extLst>
              <a:ext uri="{FF2B5EF4-FFF2-40B4-BE49-F238E27FC236}">
                <a16:creationId xmlns:a16="http://schemas.microsoft.com/office/drawing/2014/main" id="{26496CE9-AB27-1C83-14FF-D72BFC58E0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0266" y="1496255"/>
            <a:ext cx="8241640" cy="2102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US" sz="1800" dirty="0"/>
              <a:t>Conditional Formatting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800" dirty="0"/>
              <a:t>Formats of Numbers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800" dirty="0"/>
              <a:t>Cell formats</a:t>
            </a:r>
          </a:p>
          <a:p>
            <a:pPr marL="285750" indent="-285750" algn="just">
              <a:lnSpc>
                <a:spcPct val="150000"/>
              </a:lnSpc>
            </a:pPr>
            <a:endParaRPr lang="en-US" sz="1800" dirty="0"/>
          </a:p>
          <a:p>
            <a:pPr marL="285750" indent="-285750" algn="just">
              <a:lnSpc>
                <a:spcPct val="150000"/>
              </a:lnSpc>
            </a:pPr>
            <a:endParaRPr lang="en-US" sz="1800" dirty="0">
              <a:solidFill>
                <a:schemeClr val="dk1"/>
              </a:solidFill>
            </a:endParaRPr>
          </a:p>
        </p:txBody>
      </p:sp>
      <p:pic>
        <p:nvPicPr>
          <p:cNvPr id="4" name="Picture 3" descr="A person holding a calendar&#10;&#10;AI-generated content may be incorrect.">
            <a:extLst>
              <a:ext uri="{FF2B5EF4-FFF2-40B4-BE49-F238E27FC236}">
                <a16:creationId xmlns:a16="http://schemas.microsoft.com/office/drawing/2014/main" id="{C6ACA928-C09C-FB12-8897-93524DDCD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292" y="586765"/>
            <a:ext cx="3969970" cy="396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7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0A9F8150-7FA5-2DB2-709D-C59680678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F49D06BB-A52C-87D0-50DA-D439C8482D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1 : Excel Format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59690-A113-43DD-BD29-04C04045B388}"/>
              </a:ext>
            </a:extLst>
          </p:cNvPr>
          <p:cNvSpPr txBox="1"/>
          <p:nvPr/>
        </p:nvSpPr>
        <p:spPr>
          <a:xfrm>
            <a:off x="741425" y="1096441"/>
            <a:ext cx="485009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>
                <a:latin typeface="Albert Sans Medium" panose="020B0604020202020204" charset="0"/>
              </a:rPr>
              <a:t>Formula Panel : Excel Measures</a:t>
            </a:r>
            <a:endParaRPr lang="ar-EG" sz="1800" b="1" dirty="0">
              <a:latin typeface="Albert Sans Medium" panose="020B0604020202020204" charset="0"/>
            </a:endParaRPr>
          </a:p>
        </p:txBody>
      </p:sp>
      <p:grpSp>
        <p:nvGrpSpPr>
          <p:cNvPr id="6" name="Google Shape;6936;p64">
            <a:extLst>
              <a:ext uri="{FF2B5EF4-FFF2-40B4-BE49-F238E27FC236}">
                <a16:creationId xmlns:a16="http://schemas.microsoft.com/office/drawing/2014/main" id="{A0394DF7-7B07-D8EC-AF71-90B9041ABEEB}"/>
              </a:ext>
            </a:extLst>
          </p:cNvPr>
          <p:cNvGrpSpPr/>
          <p:nvPr/>
        </p:nvGrpSpPr>
        <p:grpSpPr>
          <a:xfrm>
            <a:off x="401083" y="1222359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7" name="Google Shape;6937;p64">
              <a:extLst>
                <a:ext uri="{FF2B5EF4-FFF2-40B4-BE49-F238E27FC236}">
                  <a16:creationId xmlns:a16="http://schemas.microsoft.com/office/drawing/2014/main" id="{FE5DC248-9F8F-F1AE-F94E-1A15E87D8A15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6938;p64">
              <a:extLst>
                <a:ext uri="{FF2B5EF4-FFF2-40B4-BE49-F238E27FC236}">
                  <a16:creationId xmlns:a16="http://schemas.microsoft.com/office/drawing/2014/main" id="{52ED3ECA-7AFD-2FB0-291F-BF345C0CA4BD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6939;p64">
              <a:extLst>
                <a:ext uri="{FF2B5EF4-FFF2-40B4-BE49-F238E27FC236}">
                  <a16:creationId xmlns:a16="http://schemas.microsoft.com/office/drawing/2014/main" id="{8E467401-3DBA-7042-E222-746C5E65C1A4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6940;p64">
              <a:extLst>
                <a:ext uri="{FF2B5EF4-FFF2-40B4-BE49-F238E27FC236}">
                  <a16:creationId xmlns:a16="http://schemas.microsoft.com/office/drawing/2014/main" id="{9D7CAE0F-B3C6-A6A7-3499-6D99E4989F77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941;p64">
              <a:extLst>
                <a:ext uri="{FF2B5EF4-FFF2-40B4-BE49-F238E27FC236}">
                  <a16:creationId xmlns:a16="http://schemas.microsoft.com/office/drawing/2014/main" id="{8CD7D036-DAD6-F559-AF42-91C5F63CE073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942;p64">
              <a:extLst>
                <a:ext uri="{FF2B5EF4-FFF2-40B4-BE49-F238E27FC236}">
                  <a16:creationId xmlns:a16="http://schemas.microsoft.com/office/drawing/2014/main" id="{31D3BF30-0D3F-01AF-79AD-343A1F512017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6943;p64">
              <a:extLst>
                <a:ext uri="{FF2B5EF4-FFF2-40B4-BE49-F238E27FC236}">
                  <a16:creationId xmlns:a16="http://schemas.microsoft.com/office/drawing/2014/main" id="{4B67CDC7-054A-86B1-7A88-7FBD8B82A234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944;p64">
              <a:extLst>
                <a:ext uri="{FF2B5EF4-FFF2-40B4-BE49-F238E27FC236}">
                  <a16:creationId xmlns:a16="http://schemas.microsoft.com/office/drawing/2014/main" id="{F364E8C2-F8AB-F668-1842-5447D7E5C76F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945;p64">
              <a:extLst>
                <a:ext uri="{FF2B5EF4-FFF2-40B4-BE49-F238E27FC236}">
                  <a16:creationId xmlns:a16="http://schemas.microsoft.com/office/drawing/2014/main" id="{8F21EBCE-A09F-E830-BC69-3E2E2E00B43D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6946;p64">
              <a:extLst>
                <a:ext uri="{FF2B5EF4-FFF2-40B4-BE49-F238E27FC236}">
                  <a16:creationId xmlns:a16="http://schemas.microsoft.com/office/drawing/2014/main" id="{338E0A0F-AEC9-FDB1-696A-DFE507B7BBE2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6947;p64">
              <a:extLst>
                <a:ext uri="{FF2B5EF4-FFF2-40B4-BE49-F238E27FC236}">
                  <a16:creationId xmlns:a16="http://schemas.microsoft.com/office/drawing/2014/main" id="{1A1CB803-8792-520C-C7AF-E11D456E4FF0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" name="Google Shape;345;p31">
            <a:extLst>
              <a:ext uri="{FF2B5EF4-FFF2-40B4-BE49-F238E27FC236}">
                <a16:creationId xmlns:a16="http://schemas.microsoft.com/office/drawing/2014/main" id="{3BCDDB29-FB42-ECC5-A303-B371BC49B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7695" y="1583229"/>
            <a:ext cx="5068712" cy="18680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US" sz="1800" dirty="0"/>
              <a:t>Formula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800" dirty="0"/>
              <a:t>Common measures : Mean , median ,sum..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800" dirty="0"/>
              <a:t>Keywords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800" dirty="0"/>
          </a:p>
          <a:p>
            <a:pPr marL="285750" indent="-285750" algn="just">
              <a:lnSpc>
                <a:spcPct val="150000"/>
              </a:lnSpc>
            </a:pPr>
            <a:endParaRPr lang="en-US" sz="1800" dirty="0">
              <a:solidFill>
                <a:schemeClr val="dk1"/>
              </a:solidFill>
            </a:endParaRPr>
          </a:p>
        </p:txBody>
      </p:sp>
      <p:pic>
        <p:nvPicPr>
          <p:cNvPr id="11" name="Picture 10" descr="A person holding a ruler and a large ruler&#10;&#10;AI-generated content may be incorrect.">
            <a:extLst>
              <a:ext uri="{FF2B5EF4-FFF2-40B4-BE49-F238E27FC236}">
                <a16:creationId xmlns:a16="http://schemas.microsoft.com/office/drawing/2014/main" id="{BB4638AC-74D2-D135-5DF5-09D375BB1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041" y="1096441"/>
            <a:ext cx="3088922" cy="308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5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5AA23990-3DC7-31EC-6023-A99A70DB9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F145F8F8-9D9C-2BB7-07BE-C8A6603604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1 : Exercise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7AC9F-AD39-5ACB-04F6-C60029C2E2EA}"/>
              </a:ext>
            </a:extLst>
          </p:cNvPr>
          <p:cNvSpPr txBox="1"/>
          <p:nvPr/>
        </p:nvSpPr>
        <p:spPr>
          <a:xfrm>
            <a:off x="752612" y="1083151"/>
            <a:ext cx="627383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>
                <a:latin typeface="Albert Sans Medium" panose="020B0604020202020204" charset="0"/>
              </a:rPr>
              <a:t>Exercise 4 : </a:t>
            </a:r>
            <a:r>
              <a:rPr lang="en-US" sz="1800" dirty="0"/>
              <a:t>Europe Sales Performance Analysis</a:t>
            </a:r>
            <a:endParaRPr lang="ar-EG" sz="1800" b="1" dirty="0">
              <a:latin typeface="Albert Sans Medium" panose="020B0604020202020204" charset="0"/>
            </a:endParaRPr>
          </a:p>
        </p:txBody>
      </p:sp>
      <p:grpSp>
        <p:nvGrpSpPr>
          <p:cNvPr id="6" name="Google Shape;6936;p64">
            <a:extLst>
              <a:ext uri="{FF2B5EF4-FFF2-40B4-BE49-F238E27FC236}">
                <a16:creationId xmlns:a16="http://schemas.microsoft.com/office/drawing/2014/main" id="{BC750A2F-525E-F856-77C6-0D214F901141}"/>
              </a:ext>
            </a:extLst>
          </p:cNvPr>
          <p:cNvGrpSpPr/>
          <p:nvPr/>
        </p:nvGrpSpPr>
        <p:grpSpPr>
          <a:xfrm>
            <a:off x="401083" y="1222359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7" name="Google Shape;6937;p64">
              <a:extLst>
                <a:ext uri="{FF2B5EF4-FFF2-40B4-BE49-F238E27FC236}">
                  <a16:creationId xmlns:a16="http://schemas.microsoft.com/office/drawing/2014/main" id="{D27004FD-F7E8-5C6F-9348-16CFD8870379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6938;p64">
              <a:extLst>
                <a:ext uri="{FF2B5EF4-FFF2-40B4-BE49-F238E27FC236}">
                  <a16:creationId xmlns:a16="http://schemas.microsoft.com/office/drawing/2014/main" id="{4A3FFAB0-79D7-A85F-7CA9-D21369524B58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6939;p64">
              <a:extLst>
                <a:ext uri="{FF2B5EF4-FFF2-40B4-BE49-F238E27FC236}">
                  <a16:creationId xmlns:a16="http://schemas.microsoft.com/office/drawing/2014/main" id="{A8F245E7-3BE2-E710-E351-65EF613C0949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6940;p64">
              <a:extLst>
                <a:ext uri="{FF2B5EF4-FFF2-40B4-BE49-F238E27FC236}">
                  <a16:creationId xmlns:a16="http://schemas.microsoft.com/office/drawing/2014/main" id="{99D0BBAE-0F1F-635D-6D6E-7066CEB12F7F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941;p64">
              <a:extLst>
                <a:ext uri="{FF2B5EF4-FFF2-40B4-BE49-F238E27FC236}">
                  <a16:creationId xmlns:a16="http://schemas.microsoft.com/office/drawing/2014/main" id="{24B922CC-4F37-D523-D22C-8AC76CC1C506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942;p64">
              <a:extLst>
                <a:ext uri="{FF2B5EF4-FFF2-40B4-BE49-F238E27FC236}">
                  <a16:creationId xmlns:a16="http://schemas.microsoft.com/office/drawing/2014/main" id="{90987749-3DEA-6877-AF11-568617B86680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6943;p64">
              <a:extLst>
                <a:ext uri="{FF2B5EF4-FFF2-40B4-BE49-F238E27FC236}">
                  <a16:creationId xmlns:a16="http://schemas.microsoft.com/office/drawing/2014/main" id="{0B7F11DA-2D1C-732D-408D-9BDF09A80BA5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944;p64">
              <a:extLst>
                <a:ext uri="{FF2B5EF4-FFF2-40B4-BE49-F238E27FC236}">
                  <a16:creationId xmlns:a16="http://schemas.microsoft.com/office/drawing/2014/main" id="{3D88FC9D-748B-6B95-2CB3-2A567CC452A3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945;p64">
              <a:extLst>
                <a:ext uri="{FF2B5EF4-FFF2-40B4-BE49-F238E27FC236}">
                  <a16:creationId xmlns:a16="http://schemas.microsoft.com/office/drawing/2014/main" id="{5D068133-F98B-F932-CD46-EACFBD1446B9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6946;p64">
              <a:extLst>
                <a:ext uri="{FF2B5EF4-FFF2-40B4-BE49-F238E27FC236}">
                  <a16:creationId xmlns:a16="http://schemas.microsoft.com/office/drawing/2014/main" id="{FCB534A5-DB12-681F-2607-3C2806BB1B66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6947;p64">
              <a:extLst>
                <a:ext uri="{FF2B5EF4-FFF2-40B4-BE49-F238E27FC236}">
                  <a16:creationId xmlns:a16="http://schemas.microsoft.com/office/drawing/2014/main" id="{4FC5D295-5F0E-DBCC-A865-89DB6A9747AE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6A57E-23E3-6AE4-DB28-D6D2D10C5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867" y="1610111"/>
            <a:ext cx="6853651" cy="2311029"/>
          </a:xfrm>
        </p:spPr>
        <p:txBody>
          <a:bodyPr/>
          <a:lstStyle/>
          <a:p>
            <a:r>
              <a:rPr lang="en-US" dirty="0"/>
              <a:t>You are a </a:t>
            </a:r>
            <a:r>
              <a:rPr lang="en-US" b="1" dirty="0"/>
              <a:t>Junior Data Analyst</a:t>
            </a:r>
            <a:r>
              <a:rPr lang="en-US" dirty="0"/>
              <a:t> in a </a:t>
            </a:r>
            <a:r>
              <a:rPr lang="en-US" b="1" dirty="0"/>
              <a:t>European retail company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company sells different products across </a:t>
            </a:r>
            <a:r>
              <a:rPr lang="en-US" b="1" dirty="0"/>
              <a:t>European countries</a:t>
            </a:r>
            <a:r>
              <a:rPr lang="en-US" dirty="0"/>
              <a:t> using </a:t>
            </a:r>
            <a:r>
              <a:rPr lang="en-US" b="1" dirty="0"/>
              <a:t>online and offline channels</a:t>
            </a:r>
            <a:r>
              <a:rPr lang="en-US" dirty="0"/>
              <a:t>.</a:t>
            </a:r>
          </a:p>
          <a:p>
            <a:pPr marL="139700" indent="0">
              <a:buNone/>
            </a:pPr>
            <a:r>
              <a:rPr lang="en-US" dirty="0"/>
              <a:t>- Load Dataset  (Ex4) File !</a:t>
            </a:r>
          </a:p>
          <a:p>
            <a:pPr marL="139700" indent="0">
              <a:buNone/>
            </a:pPr>
            <a:r>
              <a:rPr lang="en-US" dirty="0"/>
              <a:t>Management wants a </a:t>
            </a:r>
            <a:r>
              <a:rPr lang="en-US" b="1" dirty="0"/>
              <a:t>simple performance report</a:t>
            </a:r>
            <a:r>
              <a:rPr lang="en-US" dirty="0"/>
              <a:t> to understand:</a:t>
            </a:r>
          </a:p>
          <a:p>
            <a:r>
              <a:rPr lang="en-US" dirty="0"/>
              <a:t>Countries that have Top Profits</a:t>
            </a:r>
          </a:p>
          <a:p>
            <a:r>
              <a:rPr lang="en-US" dirty="0"/>
              <a:t>Number of orders per each Channel</a:t>
            </a:r>
          </a:p>
          <a:p>
            <a:r>
              <a:rPr lang="en-US" dirty="0"/>
              <a:t>Top Items &amp; Countries by Revenue !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Please give me Small and simple Report with good conditional Format to represent the above KPIs in Tables or Text format  </a:t>
            </a:r>
            <a:r>
              <a:rPr lang="en-US" b="1" dirty="0"/>
              <a:t>(No Need for Charts) !!!!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50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E9B2529F-6164-DFAD-40BE-1AB510521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6007E65D-CBE1-6566-9D6F-5BAAE6D221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1 : Exercise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DFB79-5BB4-D40E-EAA6-76E3468C7EF5}"/>
              </a:ext>
            </a:extLst>
          </p:cNvPr>
          <p:cNvSpPr txBox="1"/>
          <p:nvPr/>
        </p:nvSpPr>
        <p:spPr>
          <a:xfrm>
            <a:off x="752612" y="1083151"/>
            <a:ext cx="627383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>
                <a:latin typeface="Albert Sans Medium" panose="020B0604020202020204" charset="0"/>
              </a:rPr>
              <a:t>Exercise 5 : </a:t>
            </a:r>
            <a:r>
              <a:rPr lang="en-US" sz="1800" dirty="0"/>
              <a:t>Amazon Sales</a:t>
            </a:r>
          </a:p>
        </p:txBody>
      </p:sp>
      <p:grpSp>
        <p:nvGrpSpPr>
          <p:cNvPr id="6" name="Google Shape;6936;p64">
            <a:extLst>
              <a:ext uri="{FF2B5EF4-FFF2-40B4-BE49-F238E27FC236}">
                <a16:creationId xmlns:a16="http://schemas.microsoft.com/office/drawing/2014/main" id="{E744F7B7-7CB7-5F7E-1840-16F78E2C9903}"/>
              </a:ext>
            </a:extLst>
          </p:cNvPr>
          <p:cNvGrpSpPr/>
          <p:nvPr/>
        </p:nvGrpSpPr>
        <p:grpSpPr>
          <a:xfrm>
            <a:off x="401083" y="1222359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7" name="Google Shape;6937;p64">
              <a:extLst>
                <a:ext uri="{FF2B5EF4-FFF2-40B4-BE49-F238E27FC236}">
                  <a16:creationId xmlns:a16="http://schemas.microsoft.com/office/drawing/2014/main" id="{7ECDF282-22B3-5DEF-7E16-72C5A353B79E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6938;p64">
              <a:extLst>
                <a:ext uri="{FF2B5EF4-FFF2-40B4-BE49-F238E27FC236}">
                  <a16:creationId xmlns:a16="http://schemas.microsoft.com/office/drawing/2014/main" id="{938A13E5-6D6A-BD63-597E-3F3C46E56343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6939;p64">
              <a:extLst>
                <a:ext uri="{FF2B5EF4-FFF2-40B4-BE49-F238E27FC236}">
                  <a16:creationId xmlns:a16="http://schemas.microsoft.com/office/drawing/2014/main" id="{7A71902A-2490-E80F-1A7B-27F61E970D04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6940;p64">
              <a:extLst>
                <a:ext uri="{FF2B5EF4-FFF2-40B4-BE49-F238E27FC236}">
                  <a16:creationId xmlns:a16="http://schemas.microsoft.com/office/drawing/2014/main" id="{113DD970-15F6-40E8-C57F-7A3E6C2C7958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941;p64">
              <a:extLst>
                <a:ext uri="{FF2B5EF4-FFF2-40B4-BE49-F238E27FC236}">
                  <a16:creationId xmlns:a16="http://schemas.microsoft.com/office/drawing/2014/main" id="{536D15DB-EDBE-AB85-EDC7-C465C05EE09D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942;p64">
              <a:extLst>
                <a:ext uri="{FF2B5EF4-FFF2-40B4-BE49-F238E27FC236}">
                  <a16:creationId xmlns:a16="http://schemas.microsoft.com/office/drawing/2014/main" id="{D37BCF6C-A79C-A7A2-73C9-59B29455EB5C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6943;p64">
              <a:extLst>
                <a:ext uri="{FF2B5EF4-FFF2-40B4-BE49-F238E27FC236}">
                  <a16:creationId xmlns:a16="http://schemas.microsoft.com/office/drawing/2014/main" id="{1AA02389-1D87-ECDB-1734-AAB6211BE9D2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944;p64">
              <a:extLst>
                <a:ext uri="{FF2B5EF4-FFF2-40B4-BE49-F238E27FC236}">
                  <a16:creationId xmlns:a16="http://schemas.microsoft.com/office/drawing/2014/main" id="{54C5EFA0-5B60-4226-E2CE-473F836086C8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945;p64">
              <a:extLst>
                <a:ext uri="{FF2B5EF4-FFF2-40B4-BE49-F238E27FC236}">
                  <a16:creationId xmlns:a16="http://schemas.microsoft.com/office/drawing/2014/main" id="{8977EF16-1923-C43E-1809-CAD91645B78E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6946;p64">
              <a:extLst>
                <a:ext uri="{FF2B5EF4-FFF2-40B4-BE49-F238E27FC236}">
                  <a16:creationId xmlns:a16="http://schemas.microsoft.com/office/drawing/2014/main" id="{C4880DC6-B9E5-8A72-CCC2-8709C28F104B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6947;p64">
              <a:extLst>
                <a:ext uri="{FF2B5EF4-FFF2-40B4-BE49-F238E27FC236}">
                  <a16:creationId xmlns:a16="http://schemas.microsoft.com/office/drawing/2014/main" id="{79CCB454-31F1-A98E-28E9-F2C009C5EFAD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EFEF9-7BCE-82D5-277E-291FD9EEA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867" y="1610111"/>
            <a:ext cx="6853651" cy="2311029"/>
          </a:xfrm>
        </p:spPr>
        <p:txBody>
          <a:bodyPr/>
          <a:lstStyle/>
          <a:p>
            <a:r>
              <a:rPr lang="en-US" dirty="0"/>
              <a:t>You are a </a:t>
            </a:r>
            <a:r>
              <a:rPr lang="en-US" b="1" dirty="0"/>
              <a:t>Junior Data Analyst</a:t>
            </a:r>
            <a:r>
              <a:rPr lang="en-US" dirty="0"/>
              <a:t> in a </a:t>
            </a:r>
            <a:r>
              <a:rPr lang="en-US" b="1" dirty="0"/>
              <a:t>Amazon company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139700" indent="0">
              <a:buNone/>
            </a:pPr>
            <a:r>
              <a:rPr lang="en-US" dirty="0"/>
              <a:t>- Load Dataset  (Ex5) File !</a:t>
            </a:r>
          </a:p>
          <a:p>
            <a:pPr marL="139700" indent="0">
              <a:buNone/>
            </a:pPr>
            <a:r>
              <a:rPr lang="en-US" dirty="0"/>
              <a:t>Management wants a </a:t>
            </a:r>
            <a:r>
              <a:rPr lang="en-US" b="1" dirty="0"/>
              <a:t>simple performance report</a:t>
            </a:r>
            <a:r>
              <a:rPr lang="en-US" dirty="0"/>
              <a:t> to understand:</a:t>
            </a:r>
          </a:p>
          <a:p>
            <a:r>
              <a:rPr lang="en-US" dirty="0"/>
              <a:t>Products his price bigger than 1000</a:t>
            </a:r>
          </a:p>
          <a:p>
            <a:r>
              <a:rPr lang="en-US" dirty="0"/>
              <a:t>Products with rate bigger than 4.0</a:t>
            </a:r>
          </a:p>
          <a:p>
            <a:r>
              <a:rPr lang="en-US" dirty="0"/>
              <a:t>How many Products we have now where his price lower than 100 ?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Please give me Small and simple Report with good conditional Format to represent the above KPIs in Tables or Text format  </a:t>
            </a:r>
            <a:r>
              <a:rPr lang="en-US" b="1" dirty="0"/>
              <a:t>(No Need for Charts) !!!!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79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6"/>
          <p:cNvSpPr txBox="1">
            <a:spLocks noGrp="1"/>
          </p:cNvSpPr>
          <p:nvPr>
            <p:ph type="subTitle" idx="1"/>
          </p:nvPr>
        </p:nvSpPr>
        <p:spPr>
          <a:xfrm>
            <a:off x="3037891" y="2043450"/>
            <a:ext cx="2809800" cy="10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latin typeface="Albert Sans"/>
                <a:ea typeface="Albert Sans"/>
                <a:cs typeface="Albert Sans"/>
                <a:sym typeface="Albert Sans"/>
              </a:rPr>
              <a:t>Do you have any questions?</a:t>
            </a:r>
            <a:endParaRPr sz="2400" b="1" dirty="0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97" name="Google Shape;597;p46"/>
          <p:cNvSpPr txBox="1">
            <a:spLocks noGrp="1"/>
          </p:cNvSpPr>
          <p:nvPr>
            <p:ph type="ctrTitle"/>
          </p:nvPr>
        </p:nvSpPr>
        <p:spPr>
          <a:xfrm>
            <a:off x="3037891" y="1086928"/>
            <a:ext cx="2809800" cy="7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Thanks</a:t>
            </a:r>
            <a:endParaRPr sz="6000" dirty="0"/>
          </a:p>
        </p:txBody>
      </p:sp>
      <p:cxnSp>
        <p:nvCxnSpPr>
          <p:cNvPr id="614" name="Google Shape;614;p46"/>
          <p:cNvCxnSpPr/>
          <p:nvPr/>
        </p:nvCxnSpPr>
        <p:spPr>
          <a:xfrm rot="10800000">
            <a:off x="8512775" y="3618300"/>
            <a:ext cx="0" cy="127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pina Bifida in Newborns by Slidesgo">
  <a:themeElements>
    <a:clrScheme name="Simple Light">
      <a:dk1>
        <a:srgbClr val="272727"/>
      </a:dk1>
      <a:lt1>
        <a:srgbClr val="E5E0DC"/>
      </a:lt1>
      <a:dk2>
        <a:srgbClr val="29ABE2"/>
      </a:dk2>
      <a:lt2>
        <a:srgbClr val="93278F"/>
      </a:lt2>
      <a:accent1>
        <a:srgbClr val="FF7BA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7272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747</Words>
  <Application>Microsoft Office PowerPoint</Application>
  <PresentationFormat>On-screen Show (16:9)</PresentationFormat>
  <Paragraphs>122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Albert Sans</vt:lpstr>
      <vt:lpstr>Arial</vt:lpstr>
      <vt:lpstr>IBM Plex Sans</vt:lpstr>
      <vt:lpstr>Vodafone </vt:lpstr>
      <vt:lpstr>Albert Sans Medium</vt:lpstr>
      <vt:lpstr>Spina Bifida in Newborns by Slidesgo</vt:lpstr>
      <vt:lpstr>Data Analyst  Diploma</vt:lpstr>
      <vt:lpstr>Introduction</vt:lpstr>
      <vt:lpstr>Introduction</vt:lpstr>
      <vt:lpstr>Data Analyst Track</vt:lpstr>
      <vt:lpstr>Excel  for Data Analyst</vt:lpstr>
      <vt:lpstr>Session 1 : Excel</vt:lpstr>
      <vt:lpstr>Session 1 : Excel</vt:lpstr>
      <vt:lpstr>Session 1 : Excel</vt:lpstr>
      <vt:lpstr>Session 1 : Excerise</vt:lpstr>
      <vt:lpstr>Session 1 : Exercise</vt:lpstr>
      <vt:lpstr>Session 1 : Exercise</vt:lpstr>
      <vt:lpstr>Excel Measures &amp; Formats</vt:lpstr>
      <vt:lpstr>Session 1 : Excel Format</vt:lpstr>
      <vt:lpstr>Session 1 : Excel Format</vt:lpstr>
      <vt:lpstr>Session 1 : Exercise</vt:lpstr>
      <vt:lpstr>Session 1 : Exercise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 Workshop</dc:title>
  <dc:creator>Mohamed Saad</dc:creator>
  <cp:lastModifiedBy>Mohamed Ahmed Ali</cp:lastModifiedBy>
  <cp:revision>28</cp:revision>
  <dcterms:modified xsi:type="dcterms:W3CDTF">2025-12-19T18:26:50Z</dcterms:modified>
</cp:coreProperties>
</file>